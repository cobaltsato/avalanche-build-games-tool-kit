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6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30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2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Avalanche + AI Development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4142"/>
                </a:solidFill>
              </a:rPr>
              <a:t>Hands-on Demo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Gemini CLI を使って、Avalanche ブロックチェーン上で動く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シンプルな 2D グリッドゲームを作成します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926080" y="3931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0" y="39319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初心者向け + Claude Code 付録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Avalanche Game Build Tool Kit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今日作るもの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200400"/>
          </a:xfrm>
          <a:prstGeom prst="roundRect">
            <a:avLst>
              <a:gd name="adj" fmla="val 4286"/>
            </a:avLst>
          </a:prstGeom>
          <a:solidFill>
            <a:srgbClr val="25254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10x10 グリッドゲーム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280160" y="164592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91640" y="164592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164592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164592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164592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80160" y="205740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91640" y="205740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205740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14600" y="205740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0" y="205740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80160" y="246888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91640" y="246888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03120" y="2468880"/>
            <a:ext cx="365760" cy="365760"/>
          </a:xfrm>
          <a:prstGeom prst="rect">
            <a:avLst/>
          </a:prstGeom>
          <a:solidFill>
            <a:srgbClr val="E84142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14600" y="246888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6080" y="246888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80160" y="288036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91640" y="288036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03120" y="288036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14600" y="288036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26080" y="288036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80160" y="329184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91640" y="329184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03120" y="329184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14600" y="329184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26080" y="3291840"/>
            <a:ext cx="365760" cy="365760"/>
          </a:xfrm>
          <a:prstGeom prst="rect">
            <a:avLst/>
          </a:prstGeom>
          <a:solidFill>
            <a:srgbClr val="333355"/>
          </a:solidFill>
          <a:ln w="6350">
            <a:solidFill>
              <a:srgbClr val="4444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749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← → ↑ ↓ で移動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2286000"/>
            <a:ext cx="731520" cy="457200"/>
          </a:xfrm>
          <a:prstGeom prst="rightArrow">
            <a:avLst/>
          </a:prstGeom>
          <a:solidFill>
            <a:srgbClr val="16A085"/>
          </a:solidFill>
          <a:ln/>
        </p:spPr>
      </p:sp>
      <p:sp>
        <p:nvSpPr>
          <p:cNvPr id="33" name="Shape 31"/>
          <p:cNvSpPr/>
          <p:nvPr/>
        </p:nvSpPr>
        <p:spPr>
          <a:xfrm>
            <a:off x="5669280" y="1005840"/>
            <a:ext cx="3108960" cy="3200400"/>
          </a:xfrm>
          <a:prstGeom prst="roundRect">
            <a:avLst>
              <a:gd name="adj" fmla="val 4412"/>
            </a:avLst>
          </a:prstGeom>
          <a:solidFill>
            <a:srgbClr val="252540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0" y="1097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Avalanche Blockchain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126480" y="164592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E84142"/>
          </a:solidFill>
          <a:ln/>
        </p:spPr>
      </p:sp>
      <p:sp>
        <p:nvSpPr>
          <p:cNvPr id="36" name="Text 34"/>
          <p:cNvSpPr/>
          <p:nvPr/>
        </p:nvSpPr>
        <p:spPr>
          <a:xfrm>
            <a:off x="6126480" y="16459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Block #123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040880" y="2103120"/>
            <a:ext cx="182880" cy="182880"/>
          </a:xfrm>
          <a:prstGeom prst="downArrow">
            <a:avLst/>
          </a:prstGeom>
          <a:solidFill>
            <a:srgbClr val="CCCCCC"/>
          </a:solidFill>
          <a:ln/>
        </p:spPr>
      </p:sp>
      <p:sp>
        <p:nvSpPr>
          <p:cNvPr id="38" name="Shape 36"/>
          <p:cNvSpPr/>
          <p:nvPr/>
        </p:nvSpPr>
        <p:spPr>
          <a:xfrm>
            <a:off x="6126480" y="228600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E84142"/>
          </a:solidFill>
          <a:ln/>
        </p:spPr>
      </p:sp>
      <p:sp>
        <p:nvSpPr>
          <p:cNvPr id="39" name="Text 37"/>
          <p:cNvSpPr/>
          <p:nvPr/>
        </p:nvSpPr>
        <p:spPr>
          <a:xfrm>
            <a:off x="6126480" y="22860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x: 5, y: 3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040880" y="2743200"/>
            <a:ext cx="182880" cy="182880"/>
          </a:xfrm>
          <a:prstGeom prst="downArrow">
            <a:avLst/>
          </a:prstGeom>
          <a:solidFill>
            <a:srgbClr val="CCCCCC"/>
          </a:solidFill>
          <a:ln/>
        </p:spPr>
      </p:sp>
      <p:sp>
        <p:nvSpPr>
          <p:cNvPr id="41" name="Shape 39"/>
          <p:cNvSpPr/>
          <p:nvPr/>
        </p:nvSpPr>
        <p:spPr>
          <a:xfrm>
            <a:off x="6126480" y="292608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E84142"/>
          </a:solidFill>
          <a:ln/>
        </p:spPr>
      </p:sp>
      <p:sp>
        <p:nvSpPr>
          <p:cNvPr id="42" name="Text 40"/>
          <p:cNvSpPr/>
          <p:nvPr/>
        </p:nvSpPr>
        <p:spPr>
          <a:xfrm>
            <a:off x="6126480" y="29260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Tx: 0x...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669280" y="3749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A085"/>
                </a:solidFill>
              </a:rPr>
              <a:t>座標をブロックチェーンに保存！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Gemini CLI とは？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25254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Google の Gemini AI をターミナルから直接操作できるコマンドラインツール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ファイル編集、シェルコマンド実行、Web アクセスなどの機能を備えた AI コーディングアシスタント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25254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103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📁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ファイル操作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8346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read/write/edit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で自動編集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201168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252540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2103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60320" y="2514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シェル実行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28346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run_shell_command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でコマンド実行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201168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252540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2103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754880" y="2514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Web アクセス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8346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web_fetch で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ドキュメント取得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9440" y="201168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252540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2103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949440" y="2514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スキル機能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49440" y="28346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専門知識を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オンデマンド追加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02336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2D4A3E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4114800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9B59B6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114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8016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Gemini 3 Pro/Flash 対応、MCP サーバー連携、サンドボックス実行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💡 Claude Code や Cursor と同じ「AIコーディングアシスタント」の仲間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デモの流れ（約30分）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691640" cy="3474720"/>
          </a:xfrm>
          <a:prstGeom prst="roundRect">
            <a:avLst>
              <a:gd name="adj" fmla="val 8108"/>
            </a:avLst>
          </a:prstGeom>
          <a:solidFill>
            <a:srgbClr val="25254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188720"/>
            <a:ext cx="685800" cy="685800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88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4320" y="20116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準備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246888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Codespaces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Wallet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Gemini CLI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39319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333355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9319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A085"/>
                </a:solidFill>
              </a:rPr>
              <a:t>5分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65960" y="2468880"/>
            <a:ext cx="137160" cy="274320"/>
          </a:xfrm>
          <a:prstGeom prst="rightArrow">
            <a:avLst/>
          </a:prstGeom>
          <a:solidFill>
            <a:srgbClr val="666666"/>
          </a:solidFill>
          <a:ln/>
        </p:spPr>
      </p:sp>
      <p:sp>
        <p:nvSpPr>
          <p:cNvPr id="12" name="Shape 10"/>
          <p:cNvSpPr/>
          <p:nvPr/>
        </p:nvSpPr>
        <p:spPr>
          <a:xfrm>
            <a:off x="2057400" y="1005840"/>
            <a:ext cx="1691640" cy="3474720"/>
          </a:xfrm>
          <a:prstGeom prst="roundRect">
            <a:avLst>
              <a:gd name="adj" fmla="val 8108"/>
            </a:avLst>
          </a:prstGeom>
          <a:solidFill>
            <a:srgbClr val="252540"/>
          </a:solidFill>
          <a:ln/>
        </p:spPr>
      </p:sp>
      <p:sp>
        <p:nvSpPr>
          <p:cNvPr id="13" name="Shape 11"/>
          <p:cNvSpPr/>
          <p:nvPr/>
        </p:nvSpPr>
        <p:spPr>
          <a:xfrm>
            <a:off x="2560320" y="1188720"/>
            <a:ext cx="685800" cy="685800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1188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057400" y="20116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スキル導入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57400" y="246888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AIに専門知識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を追加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77440" y="39319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333355"/>
          </a:solidFill>
          <a:ln/>
        </p:spPr>
      </p:sp>
      <p:sp>
        <p:nvSpPr>
          <p:cNvPr id="18" name="Text 16"/>
          <p:cNvSpPr/>
          <p:nvPr/>
        </p:nvSpPr>
        <p:spPr>
          <a:xfrm>
            <a:off x="2377440" y="39319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A085"/>
                </a:solidFill>
              </a:rPr>
              <a:t>2分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49040" y="2468880"/>
            <a:ext cx="137160" cy="274320"/>
          </a:xfrm>
          <a:prstGeom prst="rightArrow">
            <a:avLst/>
          </a:prstGeom>
          <a:solidFill>
            <a:srgbClr val="666666"/>
          </a:solidFill>
          <a:ln/>
        </p:spPr>
      </p:sp>
      <p:sp>
        <p:nvSpPr>
          <p:cNvPr id="20" name="Shape 18"/>
          <p:cNvSpPr/>
          <p:nvPr/>
        </p:nvSpPr>
        <p:spPr>
          <a:xfrm>
            <a:off x="3840480" y="1005840"/>
            <a:ext cx="1691640" cy="3474720"/>
          </a:xfrm>
          <a:prstGeom prst="roundRect">
            <a:avLst>
              <a:gd name="adj" fmla="val 8108"/>
            </a:avLst>
          </a:prstGeom>
          <a:solidFill>
            <a:srgbClr val="252540"/>
          </a:solidFill>
          <a:ln/>
        </p:spPr>
      </p:sp>
      <p:sp>
        <p:nvSpPr>
          <p:cNvPr id="21" name="Shape 19"/>
          <p:cNvSpPr/>
          <p:nvPr/>
        </p:nvSpPr>
        <p:spPr>
          <a:xfrm>
            <a:off x="4343400" y="1188720"/>
            <a:ext cx="685800" cy="68580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22" name="Text 20"/>
          <p:cNvSpPr/>
          <p:nvPr/>
        </p:nvSpPr>
        <p:spPr>
          <a:xfrm>
            <a:off x="4343400" y="1188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840480" y="20116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コントラクト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40480" y="246888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AIが Solidity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コードを生成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60520" y="39319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333355"/>
          </a:solidFill>
          <a:ln/>
        </p:spPr>
      </p:sp>
      <p:sp>
        <p:nvSpPr>
          <p:cNvPr id="26" name="Text 24"/>
          <p:cNvSpPr/>
          <p:nvPr/>
        </p:nvSpPr>
        <p:spPr>
          <a:xfrm>
            <a:off x="4160520" y="39319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A085"/>
                </a:solidFill>
              </a:rPr>
              <a:t>5分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532120" y="2468880"/>
            <a:ext cx="137160" cy="274320"/>
          </a:xfrm>
          <a:prstGeom prst="rightArrow">
            <a:avLst/>
          </a:prstGeom>
          <a:solidFill>
            <a:srgbClr val="666666"/>
          </a:solidFill>
          <a:ln/>
        </p:spPr>
      </p:sp>
      <p:sp>
        <p:nvSpPr>
          <p:cNvPr id="28" name="Shape 26"/>
          <p:cNvSpPr/>
          <p:nvPr/>
        </p:nvSpPr>
        <p:spPr>
          <a:xfrm>
            <a:off x="5623560" y="1005840"/>
            <a:ext cx="1691640" cy="3474720"/>
          </a:xfrm>
          <a:prstGeom prst="roundRect">
            <a:avLst>
              <a:gd name="adj" fmla="val 8108"/>
            </a:avLst>
          </a:prstGeom>
          <a:solidFill>
            <a:srgbClr val="252540"/>
          </a:solidFill>
          <a:ln/>
        </p:spPr>
      </p:sp>
      <p:sp>
        <p:nvSpPr>
          <p:cNvPr id="29" name="Shape 27"/>
          <p:cNvSpPr/>
          <p:nvPr/>
        </p:nvSpPr>
        <p:spPr>
          <a:xfrm>
            <a:off x="6126480" y="1188720"/>
            <a:ext cx="685800" cy="68580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1188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623560" y="20116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デプロイ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623560" y="246888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Fuji テストネット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に公開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43600" y="39319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333355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0" y="39319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A085"/>
                </a:solidFill>
              </a:rPr>
              <a:t>5分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15200" y="2468880"/>
            <a:ext cx="137160" cy="274320"/>
          </a:xfrm>
          <a:prstGeom prst="rightArrow">
            <a:avLst/>
          </a:prstGeom>
          <a:solidFill>
            <a:srgbClr val="666666"/>
          </a:solidFill>
          <a:ln/>
        </p:spPr>
      </p:sp>
      <p:sp>
        <p:nvSpPr>
          <p:cNvPr id="36" name="Shape 34"/>
          <p:cNvSpPr/>
          <p:nvPr/>
        </p:nvSpPr>
        <p:spPr>
          <a:xfrm>
            <a:off x="7406640" y="1005840"/>
            <a:ext cx="1691640" cy="3474720"/>
          </a:xfrm>
          <a:prstGeom prst="roundRect">
            <a:avLst>
              <a:gd name="adj" fmla="val 8108"/>
            </a:avLst>
          </a:prstGeom>
          <a:solidFill>
            <a:srgbClr val="252540"/>
          </a:solidFill>
          <a:ln/>
        </p:spPr>
      </p:sp>
      <p:sp>
        <p:nvSpPr>
          <p:cNvPr id="37" name="Shape 35"/>
          <p:cNvSpPr/>
          <p:nvPr/>
        </p:nvSpPr>
        <p:spPr>
          <a:xfrm>
            <a:off x="7909560" y="1188720"/>
            <a:ext cx="685800" cy="685800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38" name="Text 36"/>
          <p:cNvSpPr/>
          <p:nvPr/>
        </p:nvSpPr>
        <p:spPr>
          <a:xfrm>
            <a:off x="7909560" y="1188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7406640" y="20116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アプリ作成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406640" y="246888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React ゲーム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をAIが生成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726680" y="39319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333355"/>
          </a:solidFill>
          <a:ln/>
        </p:spPr>
      </p:sp>
      <p:sp>
        <p:nvSpPr>
          <p:cNvPr id="42" name="Text 40"/>
          <p:cNvSpPr/>
          <p:nvPr/>
        </p:nvSpPr>
        <p:spPr>
          <a:xfrm>
            <a:off x="7726680" y="39319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A085"/>
                </a:solidFill>
              </a:rPr>
              <a:t>10分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09728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Phase 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GitHub Codespaces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2D4A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C40F"/>
                </a:solidFill>
              </a:rPr>
              <a:t>💡 Codespaces とは？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GitHub が提供するクラウド開発環境。ブラウザ上で VS Code が動作し、ローカル環境構築が不要！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085"/>
                </a:solidFill>
              </a:rPr>
              <a:t>🔗 github.com/CobaltSato/avalanche-build-games-tool-kit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148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085"/>
                </a:solidFill>
              </a:rPr>
              <a:t>手順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365760" cy="36576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606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上記 URL にアクセス → 「Code」ボタンをクリック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365760" cy="36576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3108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「Codespaces」タブを選択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611880"/>
            <a:ext cx="365760" cy="36576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611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「Create codespace on main」をクリック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365760" cy="36576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ブラウザで VS Code が起動するまで待つ（1-2分）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09728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Phase 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Core Wallet インストール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2D4A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C40F"/>
                </a:solidFill>
              </a:rPr>
              <a:t>💡 Core Wallet とは？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Avalanche 公式ウォレット。MetaMask より Avalanche に最適化。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C-Chain（EVM互換）と X-Chain/P-Chain の両方に対応！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インストール手順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25254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560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1. Chrome ブラウザを開く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8529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2. core.app/download にアクセス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14553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3. 「Chrome」を選択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43814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4. 拡張機能をインストール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7307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5. ウォレットを作成/復元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MetaMask じゃダメ？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246888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252540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25603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MetaMask でも OK！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でも Core Wallet は：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2004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085"/>
                </a:solidFill>
              </a:rPr>
              <a:t>✓ Avalanche 専用設計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6A085"/>
                </a:solidFill>
              </a:rPr>
              <a:t>✓ ネットワーク設定不要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6A085"/>
                </a:solidFill>
              </a:rPr>
              <a:t>✓ Subnet 対応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09728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Phase 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Gemini CLI 認証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認証方法は3つ（今回は Google OAuth を使用）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E84142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0" y="1399032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F1C40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0" y="13990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推奨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325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Google OAuth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13258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無料枠あり、最も簡単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13258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→ "Login with Google"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19202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25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920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Gemini API Key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86000" y="1920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モデル選択可能、有料枠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9202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GEMINI_API_KEY="..."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25146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25254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514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Vertex AI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6000" y="25146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エンタープライズ向け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2514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GOOGLE_GENAI_USE_VERTEXAI=true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</a:rPr>
              <a:t>Google OAuth の手順（公式ドキュメントより）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566160"/>
            <a:ext cx="8412480" cy="1280160"/>
          </a:xfrm>
          <a:prstGeom prst="roundRect">
            <a:avLst>
              <a:gd name="adj" fmla="val 7143"/>
            </a:avLst>
          </a:prstGeom>
          <a:solidFill>
            <a:srgbClr val="0D0D1A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6118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gemini                           # ターミナルで実行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"Login with Google" を選択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ブラウザで Google アカウント認証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認証完了 → CLI に自動で戻る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Gemini CLI 起動オプション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25254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120640" y="93268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085"/>
                </a:solidFill>
              </a:rPr>
              <a:t>対話モードで起動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基本の起動方法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481328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25254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9961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-m gemini-2.5-flash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120640" y="149961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085"/>
                </a:solidFill>
              </a:rPr>
              <a:t>モデル指定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高速モデルを使用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048256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252540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2157984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9B59B6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1579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NEW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914400" y="206654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--resume [index/UUID]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0" y="206654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085"/>
                </a:solidFill>
              </a:rPr>
              <a:t>セッション再開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230428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前回の続きから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615184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252540"/>
          </a:solidFill>
          <a:ln/>
        </p:spPr>
      </p:sp>
      <p:sp>
        <p:nvSpPr>
          <p:cNvPr id="19" name="Shape 17"/>
          <p:cNvSpPr/>
          <p:nvPr/>
        </p:nvSpPr>
        <p:spPr>
          <a:xfrm>
            <a:off x="411480" y="2724912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9B59B6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7249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NEW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914400" y="26334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--sandbox / -s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0640" y="26334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085"/>
                </a:solidFill>
              </a:rPr>
              <a:t>サンドボックス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2871216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Docker で安全に実行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182112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25254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2004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--yolo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20640" y="32004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085"/>
                </a:solidFill>
              </a:rPr>
              <a:t>全ツール自動承認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438144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確認なしで実行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7490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252540"/>
          </a:solidFill>
          <a:ln/>
        </p:spPr>
      </p:sp>
      <p:sp>
        <p:nvSpPr>
          <p:cNvPr id="29" name="Shape 27"/>
          <p:cNvSpPr/>
          <p:nvPr/>
        </p:nvSpPr>
        <p:spPr>
          <a:xfrm>
            <a:off x="411480" y="3858768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9B59B6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38587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NEW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914400" y="37673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--allowed-tools "ShellTool(git)"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0" y="376732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085"/>
                </a:solidFill>
              </a:rPr>
              <a:t>特定ツールのみ許可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14400" y="400507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指定したツールの確認をスキップ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438912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4A2D2D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C40F"/>
                </a:solidFill>
              </a:rPr>
              <a:t>⚠️ --yolo は自動でサンドボックスが有効になります。意図しないファイル変更に注意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スラッシュコマンド一覧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2D4A3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💡 対話モード内で / から始まるコマンドで様々な操作が可能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基本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2525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28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/help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ヘルプ表示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/tools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4871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利用可能ツール一覧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/model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9443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モデル選択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200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/settings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4015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設定エディタ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/theme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8587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テーマ変更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114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/clear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315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画面クリア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セッション管理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91840" y="173736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252540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1828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/resume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83280" y="2029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セッション再開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0" y="2286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/chat save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83280" y="24871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保存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8328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/chat resume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83280" y="29443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復元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83280" y="3200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/chat share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83280" y="34015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エクスポート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83280" y="3657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/compress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83280" y="38587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トークン節約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83280" y="4114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/rewind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83280" y="4315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巻き戻し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1792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スキル・拡張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173736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252540"/>
          </a:solidFill>
          <a:ln/>
        </p:spPr>
      </p:sp>
      <p:sp>
        <p:nvSpPr>
          <p:cNvPr id="36" name="Text 34"/>
          <p:cNvSpPr/>
          <p:nvPr/>
        </p:nvSpPr>
        <p:spPr>
          <a:xfrm>
            <a:off x="6309360" y="1828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/skills list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09360" y="2029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スキル一覧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09360" y="2286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/skills reload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09360" y="24871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再読み込み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0936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/memory show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09360" y="29443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コンテキスト表示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09360" y="3200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/mcp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09360" y="34015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MCP サーバー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309360" y="3657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/extensions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09360" y="38587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拡張機能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309360" y="4114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/restore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309360" y="4315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ファイル復元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GEMINI.md コンテキストファイル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2D4A3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C40F"/>
                </a:solidFill>
              </a:rPr>
              <a:t>💡 プロジェクト固有の指示を AI に伝える仕組み（Claude の CLAUDE.md と同様）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コーディングスタイル、API ガイドライン、依存関係ルールなどを設定可能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</a:rPr>
              <a:t>読み込み優先順位（階層構造）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4114800" cy="228600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194560"/>
            <a:ext cx="320040" cy="32004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1945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~/.gemini/GEMINI.md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24505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グローバル（全プロジェクト共通）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320040" cy="32004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8803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.gemini/GEMINI.md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31363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プロジェクトルート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320040" cy="32004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5661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src/GEMINI.md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38221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サブディレクトリ（モジュール固有）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63440" y="1691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</a:rPr>
              <a:t>記述例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2057400"/>
            <a:ext cx="4114800" cy="2286000"/>
          </a:xfrm>
          <a:prstGeom prst="roundRect">
            <a:avLst>
              <a:gd name="adj" fmla="val 4000"/>
            </a:avLst>
          </a:prstGeom>
          <a:solidFill>
            <a:srgbClr val="0D0D1A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103120"/>
            <a:ext cx="3931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Project: My App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General Instructions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Follow existing coding style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Add JSDoc comments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Use TypeScript 5.0+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Coding Style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- 2 spaces for indentation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Interface names with `I` prefix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Always use strict equality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09728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4142"/>
                </a:solidFill>
              </a:rPr>
              <a:t>Phase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スキル（Skills）とは？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2D4A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C40F"/>
                </a:solidFill>
              </a:rPr>
              <a:t>💡 スキル = AI に「専門知識」をオンデマンドで追加する仕組み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ゲーム開発、API 設計など特定タスクに最適化された振る舞いを与えられます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3474720" cy="1645920"/>
          </a:xfrm>
          <a:prstGeom prst="roundRect">
            <a:avLst>
              <a:gd name="adj" fmla="val 5556"/>
            </a:avLst>
          </a:prstGeom>
          <a:solidFill>
            <a:srgbClr val="25254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103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スキルなし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377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「グリッドゲーム？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えーと、どう作るかな...」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23360" y="2651760"/>
            <a:ext cx="548640" cy="365760"/>
          </a:xfrm>
          <a:prstGeom prst="rightArrow">
            <a:avLst/>
          </a:prstGeom>
          <a:solidFill>
            <a:srgbClr val="16A085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0" y="30632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085"/>
                </a:solidFill>
              </a:rPr>
              <a:t>+スキル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0" y="201168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E84142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2103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スキルあり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377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🎮🤖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937760" y="28346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「CSS Grid で10x10作って、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キーボードイベントで移動...」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今日使うスキル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16052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25254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• react-css-grid-game-rendering  →  グリッドゲーム開発の専門知識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731520" cy="411480"/>
          </a:xfrm>
          <a:prstGeom prst="roundRect">
            <a:avLst>
              <a:gd name="adj" fmla="val 48889"/>
            </a:avLst>
          </a:prstGeom>
          <a:solidFill>
            <a:srgbClr val="F1C40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NEW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8016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スキルの入手先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2D4A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C40F"/>
                </a:solidFill>
              </a:rPr>
              <a:t>💡 スキルは Gemini の Skill-Creator や Claude の /skill-create で相互変換可能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スキルファイルをダウンロードして変換ツールで利用可能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691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コミュニティリポジトリ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25254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03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VoltAgent/awesome-agent-skills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0" y="2148840"/>
            <a:ext cx="731520" cy="228600"/>
          </a:xfrm>
          <a:prstGeom prst="roundRect">
            <a:avLst>
              <a:gd name="adj" fmla="val 48000"/>
            </a:avLst>
          </a:prstGeom>
          <a:solidFill>
            <a:srgbClr val="E84142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21488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200+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377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AI コーディングアシスタント向け公式キュレーション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25254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sickn33/antigravity-awesome-skills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20640" y="2788920"/>
            <a:ext cx="731520" cy="228600"/>
          </a:xfrm>
          <a:prstGeom prst="roundRect">
            <a:avLst>
              <a:gd name="adj" fmla="val 48000"/>
            </a:avLst>
          </a:prstGeom>
          <a:solidFill>
            <a:srgbClr val="E84142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27889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626+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017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最大のコミュニティコレクション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38328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25254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383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anthropic-agent-skills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657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Anthropic 公式（Claude Code プラグイン内蔵）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402336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25254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023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buildatscale-tv/gemini-skills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Gemini CLI 向けスキルテンプレート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4709160"/>
            <a:ext cx="8412480" cy="228600"/>
          </a:xfrm>
          <a:prstGeom prst="roundRect">
            <a:avLst>
              <a:gd name="adj" fmla="val 32000"/>
            </a:avLst>
          </a:prstGeom>
          <a:solidFill>
            <a:srgbClr val="333355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🔍 GitHub で "agent skills" または "gemini skills" で検索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09728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4142"/>
                </a:solidFill>
              </a:rPr>
              <a:t>Phase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スキルのインストール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Step 1: ターミナルで実行（Gemini CLI の外で）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0D0D1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Git リポジトリ、ローカルディレクトリ、.skill ファイルからインストール可能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グリッドゲームスキル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skills install https://github.com/CobaltSato/react-grid-game-rendering-skill/blob/main/react-css-grid-game-rendering.skill --scope workspace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2560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Step 2: Gemini CLI 内でリロード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880360"/>
            <a:ext cx="4023360" cy="640080"/>
          </a:xfrm>
          <a:prstGeom prst="roundRect">
            <a:avLst>
              <a:gd name="adj" fmla="val 14286"/>
            </a:avLst>
          </a:prstGeom>
          <a:solidFill>
            <a:srgbClr val="0D0D1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260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/skills reload    # スキルを再読み込み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/skills list      # インストール確認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25603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スコープ（保存場所）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2880360"/>
            <a:ext cx="4206240" cy="1371600"/>
          </a:xfrm>
          <a:prstGeom prst="roundRect">
            <a:avLst>
              <a:gd name="adj" fmla="val 6667"/>
            </a:avLst>
          </a:prstGeom>
          <a:solidFill>
            <a:srgbClr val="25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292608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--scope workspace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  → .gemini/skills/ に保存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  → このプロジェクトのみ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--scope user (デフォルト)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  → ~/.gemini/skills/ に保存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  → 全プロジェクト共通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25254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7033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085"/>
                </a:solidFill>
              </a:rPr>
              <a:t>その他のスキル管理コマンド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9319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skills list          # 一覧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skills uninstall     # 削除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skills enable/disable # 有効/無効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09728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4142"/>
                </a:solidFill>
              </a:rPr>
              <a:t>Phase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スマートコントラクト作成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2D4A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C40F"/>
                </a:solidFill>
              </a:rPr>
              <a:t>💡 スマートコントラクト = ブロックチェーン上で動く「自動実行プログラム」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データの保存・取得ルールを定義。一度デプロイすると改ざん不可能！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691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</a:rPr>
              <a:t>Gemini に依頼するプロンプト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4884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プレイヤーの 10x10 座標を保存・取得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できるコントラクトを作成して。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要件: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位置を初期化する関数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- 1歩移動する関数（上下左右）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座標は 0-9 の範囲に制限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出力先: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Solidity: contracts/PositionTracker.sol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ABI: .env.local.example に追記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77840" y="1691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</a:rPr>
              <a:t>Gemini がやること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577840" y="205740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0" y="2240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📄 Solidity コード生成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0" y="2697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💾 ファイルに保存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0" y="3154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📋 ABI を抽出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0" y="3611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動作確認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09728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4142"/>
                </a:solidFill>
              </a:rPr>
              <a:t>Phase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コントラクトをデプロイ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2D4A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C40F"/>
                </a:solidFill>
              </a:rPr>
              <a:t>💡 Fuji テストネット = Avalanche の「練習場」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本番（Mainnet）と同じ仕組み。無料のテスト AVAX を使って開発・テストできます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252540"/>
          </a:solidFill>
          <a:ln/>
        </p:spPr>
      </p:sp>
      <p:sp>
        <p:nvSpPr>
          <p:cNvPr id="10" name="Shape 8"/>
          <p:cNvSpPr/>
          <p:nvPr/>
        </p:nvSpPr>
        <p:spPr>
          <a:xfrm>
            <a:off x="1417320" y="1965960"/>
            <a:ext cx="731520" cy="73152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1" name="Text 9"/>
          <p:cNvSpPr/>
          <p:nvPr/>
        </p:nvSpPr>
        <p:spPr>
          <a:xfrm>
            <a:off x="141732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テスト AVAX 取得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Faucet から無料で入手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build.avax.network/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console/primary-network/faucet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83280" y="18288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252540"/>
          </a:solidFill>
          <a:ln/>
        </p:spPr>
      </p:sp>
      <p:sp>
        <p:nvSpPr>
          <p:cNvPr id="15" name="Shape 13"/>
          <p:cNvSpPr/>
          <p:nvPr/>
        </p:nvSpPr>
        <p:spPr>
          <a:xfrm>
            <a:off x="4343400" y="1965960"/>
            <a:ext cx="731520" cy="73152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6" name="Text 14"/>
          <p:cNvSpPr/>
          <p:nvPr/>
        </p:nvSpPr>
        <p:spPr>
          <a:xfrm>
            <a:off x="434340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383280" y="2834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Remix でデプロイ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32004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remix.ethereum.org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で Solidity をコンパイル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→ Fuji にデプロイ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09360" y="18288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252540"/>
          </a:solidFill>
          <a:ln/>
        </p:spPr>
      </p:sp>
      <p:sp>
        <p:nvSpPr>
          <p:cNvPr id="20" name="Shape 18"/>
          <p:cNvSpPr/>
          <p:nvPr/>
        </p:nvSpPr>
        <p:spPr>
          <a:xfrm>
            <a:off x="7269480" y="1965960"/>
            <a:ext cx="731520" cy="73152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21" name="Text 19"/>
          <p:cNvSpPr/>
          <p:nvPr/>
        </p:nvSpPr>
        <p:spPr>
          <a:xfrm>
            <a:off x="726948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309360" y="2834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環境変数設定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32004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cp .env.local.example .env.local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アドレスを設定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097280" cy="411480"/>
          </a:xfrm>
          <a:prstGeom prst="roundRect">
            <a:avLst>
              <a:gd name="adj" fmla="val 48889"/>
            </a:avLst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C40F"/>
                </a:solidFill>
              </a:rPr>
              <a:t>Phase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アプリ作成（メイン！）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2D4A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C40F"/>
                </a:solidFill>
              </a:rPr>
              <a:t>💡 タスク管理を AI にさせる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Gemini にフェーズ分割でタスクを管理させ、段階的に検収しながら進められます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691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</a:rPr>
              <a:t>Gemini に依頼するプロンプト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8412480" cy="2377440"/>
          </a:xfrm>
          <a:prstGeom prst="roundRect">
            <a:avLst>
              <a:gd name="adj" fmla="val 3846"/>
            </a:avLst>
          </a:prstGeom>
          <a:solidFill>
            <a:srgbClr val="25254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4884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10x10 の 2D グリッドゲームを作成して。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要件: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react-css-grid-game-rendering スキルを使用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日本語で docs/task.md にタスクリストを生成（5フェーズ）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タスク完了ごとに task.md にチェックを入れる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フェーズごとにユーザー検収を促す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キーボード（↑↓←→）でプレイヤーを移動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移動時にコントラクトに座標を書き込む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参照ファイル: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contracts/PositionTracker.sol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- .env.local（コントラクトアドレス・ABI）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109728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Phase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動作確認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252540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188720"/>
            <a:ext cx="731520" cy="73152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7432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サーバー起動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0D0D1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468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2926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ターミナルで実行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100584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252540"/>
          </a:solidFill>
          <a:ln/>
        </p:spPr>
      </p:sp>
      <p:sp>
        <p:nvSpPr>
          <p:cNvPr id="14" name="Shape 12"/>
          <p:cNvSpPr/>
          <p:nvPr/>
        </p:nvSpPr>
        <p:spPr>
          <a:xfrm>
            <a:off x="3108960" y="1188720"/>
            <a:ext cx="731520" cy="73152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5" name="Text 13"/>
          <p:cNvSpPr/>
          <p:nvPr/>
        </p:nvSpPr>
        <p:spPr>
          <a:xfrm>
            <a:off x="310896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46888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ブラウザ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51760" y="246888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0D0D1A"/>
          </a:solidFill>
          <a:ln/>
        </p:spPr>
      </p:sp>
      <p:sp>
        <p:nvSpPr>
          <p:cNvPr id="18" name="Text 16"/>
          <p:cNvSpPr/>
          <p:nvPr/>
        </p:nvSpPr>
        <p:spPr>
          <a:xfrm>
            <a:off x="2651760" y="2468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localhost:3000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68880" y="2926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Wallet 接続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00584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252540"/>
          </a:solidFill>
          <a:ln/>
        </p:spPr>
      </p:sp>
      <p:sp>
        <p:nvSpPr>
          <p:cNvPr id="21" name="Shape 19"/>
          <p:cNvSpPr/>
          <p:nvPr/>
        </p:nvSpPr>
        <p:spPr>
          <a:xfrm>
            <a:off x="5303520" y="1188720"/>
            <a:ext cx="731520" cy="73152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66344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ゲーム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46888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0D0D1A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468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→ ↑ 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2926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矢印キーで移動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58000" y="100584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252540"/>
          </a:solidFill>
          <a:ln/>
        </p:spPr>
      </p:sp>
      <p:sp>
        <p:nvSpPr>
          <p:cNvPr id="28" name="Shape 26"/>
          <p:cNvSpPr/>
          <p:nvPr/>
        </p:nvSpPr>
        <p:spPr>
          <a:xfrm>
            <a:off x="7498080" y="1188720"/>
            <a:ext cx="731520" cy="73152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85800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確認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040880" y="246888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0D0D1A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0" y="2468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0" y="2926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Tx を承認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356616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2D4A3E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C40F"/>
                </a:solidFill>
              </a:rPr>
              <a:t>🎉 座標がブロックチェーンに保存されることを確認！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リロードしても位置が保持されていれば成功です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🎉 デモ完了！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142"/>
                </a:solidFill>
              </a:rPr>
              <a:t>作ったもの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2525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</a:rPr>
              <a:t>PositionTracker.sol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座標保存コントラクト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</a:rPr>
              <a:t>Grid Game UI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React + CSS Grid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</a:rPr>
              <a:t>Wallet Integration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Core Wallet + ethers.js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142"/>
                </a:solidFill>
              </a:rPr>
              <a:t>学んだこと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252540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1371600"/>
            <a:ext cx="274320" cy="27432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371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Gemini CLI で AI 駆動開発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755648"/>
            <a:ext cx="274320" cy="27432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755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20640" y="17556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スキルで専門知識を追加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139696"/>
            <a:ext cx="274320" cy="27432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1396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0640" y="21396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Avalanche Fuji でデプロイ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523744"/>
            <a:ext cx="274320" cy="274320"/>
          </a:xfrm>
          <a:prstGeom prst="ellipse">
            <a:avLst/>
          </a:prstGeom>
          <a:solidFill>
            <a:srgbClr val="E84142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25237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20640" y="252374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フェーズ分割でタスク管理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10896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2D4A3E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C40F"/>
                </a:solidFill>
              </a:rPr>
              <a:t>💡 ポイント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3520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AI（Gemini CLI）+ 専門知識（Skills）+ ブロックチェーン（Avalanche）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= 短時間で本格的な dApp が作れる！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📚 クイックリファレンス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Gemini CLI コマンド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0D0D1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起動オプション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-m gemini-2.5-flash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--resume [index/UUID]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--sandbox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--yolo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スラッシュコマンド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/help /tools /model /settings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/skills list|reload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/memory show|refresh|add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/chat save|resume|share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/compress /rewind /restore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/mcp /extensions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スキル管理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skills install &lt;url&gt;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skills uninstall &lt;name&gt;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skills enable|disable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6344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参考リンク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252540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28016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142"/>
                </a:solidFill>
              </a:rPr>
              <a:t>Core Wallet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0" y="144475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core.app/download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754880" y="166420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142"/>
                </a:solidFill>
              </a:rPr>
              <a:t>Fuji Faucet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0" y="182880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build.avax.network/console/primary-network/faucet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754880" y="204825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142"/>
                </a:solidFill>
              </a:rPr>
              <a:t>Remix IDE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221284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remix.ethereum.org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754880" y="243230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142"/>
                </a:solidFill>
              </a:rPr>
              <a:t>Gemini CLI Docs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0" y="259689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github.com/google-gemini/gemini-cli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754880" y="281635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142"/>
                </a:solidFill>
              </a:rPr>
              <a:t>Skills Repo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298094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CCCCC"/>
                </a:solidFill>
              </a:rPr>
              <a:t>github.com/CobaltSato/react-grid-game-rendering-skill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A775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APPENDIX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Claude Code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Anthropic の AI コーディングアシスタント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Gemini CLI との比較 &amp; 実践ガイド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A775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Claude Code とは？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25254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Anthropic の Claude AI をターミナルから操作できる CLI ツール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Gemini CLI と同じ「AI コーディングアシスタント」カテゴリ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25254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011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A7756"/>
                </a:solidFill>
              </a:rPr>
              <a:t>CLAUDE.md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7432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プロジェクト指示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コンテキストファイル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192024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252540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2011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🎣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60320" y="2423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A7756"/>
                </a:solidFill>
              </a:rPr>
              <a:t>Hooks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27432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PreToolUse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PostToolUse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92024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252540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2011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754880" y="2423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A7756"/>
                </a:solidFill>
              </a:rPr>
              <a:t>Skills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7432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SKILL.md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(変換可能)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9440" y="192024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252540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2011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🔌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949440" y="2423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A7756"/>
                </a:solidFill>
              </a:rPr>
              <a:t>MCP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49440" y="27432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Playwright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Context7 等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74904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2D4A3E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C40F"/>
                </a:solidFill>
              </a:rPr>
              <a:t>💡 everything-claude-code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Anthropic x Forum Ventures ハッカソン優勝者の設定集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実戦的な agents, skills, rules, hooks の構成例を提供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A775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Gemini CLI vs Claude Code 比較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11480"/>
          </a:xfrm>
          <a:prstGeom prst="roundRect">
            <a:avLst>
              <a:gd name="adj" fmla="val 11111"/>
            </a:avLst>
          </a:prstGeom>
          <a:solidFill>
            <a:srgbClr val="33335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085"/>
                </a:solidFill>
              </a:rPr>
              <a:t>機能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377440" y="914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085"/>
                </a:solidFill>
              </a:rPr>
              <a:t>Gemini CLI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0" y="914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A7756"/>
                </a:solidFill>
              </a:rPr>
              <a:t>Claude Code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0" y="914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CCCC"/>
                </a:solidFill>
              </a:rPr>
              <a:t>備考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25254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173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コンテキストファイル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77440" y="14173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GEMINI.md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0" y="14173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0" y="14173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同じ仕組み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1856232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1E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8562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スキル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377440" y="185623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SKILL.md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185623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SKILL.md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32320" y="185623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変換可能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2295144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25254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29514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フック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377440" y="229514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(なし)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229514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PreToolUse / PostToolUse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32320" y="229514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Claude のみ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" y="2734056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1E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73405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MCP サポート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377440" y="273405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273405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132320" y="273405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同じ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" y="3172968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252540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1729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スラッシュコマンド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377440" y="317296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/skills, /memory 等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0" y="317296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/plan, /tdd 等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132320" y="317296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異なるコマンド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65760" y="3611880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1E1E3A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6118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エージェント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377440" y="36118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(スキルで実現)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0" y="36118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.claude/agents/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132320" y="361188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Claude は専用機能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65760" y="4050792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252540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405079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ルール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377440" y="405079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(GEMINI.md)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54880" y="405079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.claude/rules/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132320" y="40507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</a:rPr>
              <a:t>Claude は専用機能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65760" y="4572000"/>
            <a:ext cx="8412480" cy="365760"/>
          </a:xfrm>
          <a:prstGeom prst="roundRect">
            <a:avLst>
              <a:gd name="adj" fmla="val 20000"/>
            </a:avLst>
          </a:prstGeom>
          <a:solidFill>
            <a:srgbClr val="2D4A3E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💡 スキルは Skill-Creator や /skill-create で相互変換可能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A775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Claude Code Hooks システム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2D4A3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C40F"/>
                </a:solidFill>
              </a:rPr>
              <a:t>💡 Hooks = ツール実行の前後に自動実行されるイベント駆動スクリプト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セキュリティチェック、フォーマット、ログ記録などを自動化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252540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828800"/>
            <a:ext cx="1463040" cy="320040"/>
          </a:xfrm>
          <a:prstGeom prst="roundRect">
            <a:avLst>
              <a:gd name="adj" fmla="val 48571"/>
            </a:avLst>
          </a:prstGeom>
          <a:solidFill>
            <a:srgbClr val="16A08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28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PreToolUse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ツール実行前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560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ファイル書き込み前に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セキュリティチェック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0" y="173736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252540"/>
          </a:solidFill>
          <a:ln/>
        </p:spPr>
      </p:sp>
      <p:sp>
        <p:nvSpPr>
          <p:cNvPr id="13" name="Shape 11"/>
          <p:cNvSpPr/>
          <p:nvPr/>
        </p:nvSpPr>
        <p:spPr>
          <a:xfrm>
            <a:off x="2834640" y="1828800"/>
            <a:ext cx="1463040" cy="320040"/>
          </a:xfrm>
          <a:prstGeom prst="roundRect">
            <a:avLst>
              <a:gd name="adj" fmla="val 48571"/>
            </a:avLst>
          </a:prstGeom>
          <a:solidFill>
            <a:srgbClr val="3498DB"/>
          </a:solidFill>
          <a:ln/>
        </p:spPr>
      </p:sp>
      <p:sp>
        <p:nvSpPr>
          <p:cNvPr id="14" name="Text 12"/>
          <p:cNvSpPr/>
          <p:nvPr/>
        </p:nvSpPr>
        <p:spPr>
          <a:xfrm>
            <a:off x="2834640" y="1828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PostToolUse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ツール実行後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0320" y="2560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編集後に Prettier で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自動フォーマット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173736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252540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0" y="1828800"/>
            <a:ext cx="1463040" cy="320040"/>
          </a:xfrm>
          <a:prstGeom prst="roundRect">
            <a:avLst>
              <a:gd name="adj" fmla="val 48571"/>
            </a:avLst>
          </a:prstGeom>
          <a:solidFill>
            <a:srgbClr val="F1C40F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1828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Stop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セッション終了時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2560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console.log の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残留チェック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49440" y="173736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252540"/>
          </a:solidFill>
          <a:ln/>
        </p:spPr>
      </p:sp>
      <p:sp>
        <p:nvSpPr>
          <p:cNvPr id="23" name="Shape 21"/>
          <p:cNvSpPr/>
          <p:nvPr/>
        </p:nvSpPr>
        <p:spPr>
          <a:xfrm>
            <a:off x="7223760" y="1828800"/>
            <a:ext cx="1463040" cy="320040"/>
          </a:xfrm>
          <a:prstGeom prst="roundRect">
            <a:avLst>
              <a:gd name="adj" fmla="val 48571"/>
            </a:avLst>
          </a:prstGeom>
          <a:solidFill>
            <a:srgbClr val="E84142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0" y="1828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SessionStart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4944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セッション開始時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49440" y="2560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プロジェクト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コンテキスト読み込み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PreToolUse フック例（JSON）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88620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0D0D1A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"PreToolUse": [{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"matcher": "Write|Edit",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"hooks": [{ "type": "prompt", "prompt": "Validate file write safety. Check: system paths, credentials. Return approve or deny." }]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A775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Claude Code スラッシュコマンド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2D4A3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💡 .claude/commands/ にカスタムコマンドを定義可能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7756"/>
                </a:solidFill>
              </a:rPr>
              <a:t>開発ワークフロー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2525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28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/plan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実装計画を作成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/tdd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4871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テスト駆動開発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/code-review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9443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コードレビュー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200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/build-fix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4015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ビルドエラー修正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/e2e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8587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E2E テスト生成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114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/verify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315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検証ループ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7756"/>
                </a:solidFill>
              </a:rPr>
              <a:t>コード品質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91840" y="173736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252540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1828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/test-coverage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83280" y="2029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カバレッジ分析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0" y="2286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/refactor-clean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83280" y="24871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不要コード削除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8328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/security-review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83280" y="29443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セキュリティチェック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83280" y="3200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/update-docs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83280" y="34015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ドキュメント更新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83280" y="3657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/update-codemaps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83280" y="38587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コードマップ更新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83280" y="4114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/checkpoint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83280" y="4315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状態保存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1792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7756"/>
                </a:solidFill>
              </a:rPr>
              <a:t>システム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173736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252540"/>
          </a:solidFill>
          <a:ln/>
        </p:spPr>
      </p:sp>
      <p:sp>
        <p:nvSpPr>
          <p:cNvPr id="36" name="Text 34"/>
          <p:cNvSpPr/>
          <p:nvPr/>
        </p:nvSpPr>
        <p:spPr>
          <a:xfrm>
            <a:off x="6309360" y="1828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/help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09360" y="2029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ヘルプ表示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09360" y="2286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/mcp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09360" y="24871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MCP サーバー管理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0936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/context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09360" y="29443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コンテキスト管理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09360" y="3200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/clear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09360" y="34015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コンテキストクリア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309360" y="3657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/skill-create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09360" y="38587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スキル作成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309360" y="4114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/orchestrate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309360" y="43159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マルチエージェント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A775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Claude Code エージェント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2D4A3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C40F"/>
                </a:solidFill>
              </a:rPr>
              <a:t>💡 各エージェントは必要最小限のツールだけを持つ = 高速で正確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.claude/agents/ にカスタムエージェントを定義可能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525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37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実装計画・要件分析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173736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52540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737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2057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システム設計・アーキテクチャ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173736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5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737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tdd-guide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09360" y="2057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テスト駆動開発ガイダンス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5254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468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code-reviewer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788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コード品質・セキュリティ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91840" y="246888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52540"/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0" y="2468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security-reviewer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2788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脆弱性分析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7920" y="246888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52540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2468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build-error-resolver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2788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ビルドエラー診断・修正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20040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5254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200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e2e-runner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520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Playwright E2E テスト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91840" y="320040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52540"/>
          </a:solidFill>
          <a:ln/>
        </p:spPr>
      </p:sp>
      <p:sp>
        <p:nvSpPr>
          <p:cNvPr id="29" name="Text 27"/>
          <p:cNvSpPr/>
          <p:nvPr/>
        </p:nvSpPr>
        <p:spPr>
          <a:xfrm>
            <a:off x="3383280" y="3200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refactor-cleaner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83280" y="3520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デッドコード削除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17920" y="320040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52540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3200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77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doc-updater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0" y="3520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ドキュメント更新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</a:rPr>
              <a:t>使用例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34340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0D0D1A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エージェントを明示的に呼び出す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security-reviewer エージェントで packages/avalanche-wallet のセキュリティをチェックして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A775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Claude Code 実践ワーク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2D4A3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💡 このリポジトリに実践ワークが含まれています → docs/work.md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25254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28800"/>
            <a:ext cx="457200" cy="457200"/>
          </a:xfrm>
          <a:prstGeom prst="ellipse">
            <a:avLst/>
          </a:prstGeom>
          <a:solidFill>
            <a:srgbClr val="DA775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783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/plan コマンド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103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実装計画を作成し、承認後に実装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64592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252540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1828800"/>
            <a:ext cx="457200" cy="457200"/>
          </a:xfrm>
          <a:prstGeom prst="ellipse">
            <a:avLst/>
          </a:prstGeom>
          <a:solidFill>
            <a:srgbClr val="DA7756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1783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/tdd コマンド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0" y="2103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RED→GREEN→REFACTOR サイクル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56032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252540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743200"/>
            <a:ext cx="457200" cy="457200"/>
          </a:xfrm>
          <a:prstGeom prst="ellipse">
            <a:avLst/>
          </a:prstGeom>
          <a:solidFill>
            <a:srgbClr val="DA7756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697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/code-review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017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CRITICAL/HIGH/MEDIUM/LOW で評価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56032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252540"/>
          </a:solidFill>
          <a:ln/>
        </p:spPr>
      </p:sp>
      <p:sp>
        <p:nvSpPr>
          <p:cNvPr id="22" name="Shape 20"/>
          <p:cNvSpPr/>
          <p:nvPr/>
        </p:nvSpPr>
        <p:spPr>
          <a:xfrm>
            <a:off x="4846320" y="2743200"/>
            <a:ext cx="457200" cy="457200"/>
          </a:xfrm>
          <a:prstGeom prst="ellipse">
            <a:avLst/>
          </a:prstGeom>
          <a:solidFill>
            <a:srgbClr val="DA7756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94960" y="2697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Playwright + TDD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0" y="3017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E2E テスト駆動で UI 実装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47472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252540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657600"/>
            <a:ext cx="457200" cy="457200"/>
          </a:xfrm>
          <a:prstGeom prst="ellipse">
            <a:avLst/>
          </a:prstGeom>
          <a:solidFill>
            <a:srgbClr val="DA7756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05840" y="3611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Playwright MCP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05840" y="3931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ブラウザ自動操作でデバッグ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47472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252540"/>
          </a:solidFill>
          <a:ln/>
        </p:spPr>
      </p:sp>
      <p:sp>
        <p:nvSpPr>
          <p:cNvPr id="32" name="Shape 30"/>
          <p:cNvSpPr/>
          <p:nvPr/>
        </p:nvSpPr>
        <p:spPr>
          <a:xfrm>
            <a:off x="4846320" y="3657600"/>
            <a:ext cx="457200" cy="457200"/>
          </a:xfrm>
          <a:prstGeom prst="ellipse">
            <a:avLst/>
          </a:prstGeom>
          <a:solidFill>
            <a:srgbClr val="DA7756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94960" y="3611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Context7 MCP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94960" y="3931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最新ドキュメントをリアルタイム取得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48056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333355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📚 詳細: docs/Guide.md（Claude Code 機能ガイド）, docs/work.md（実践ワーク）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📚 参考リソース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🎮 Phaser.js ゲーム実装例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2525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4142"/>
                </a:solidFill>
              </a:rPr>
              <a:t>📺 YouTube チュートリアル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youtube.com/watch?v=QPZCMd5REP8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0" y="13716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4142"/>
                </a:solidFill>
              </a:rPr>
              <a:t>📁 Oakwoods サンプルゲーム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0" y="16002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github.com/chongdashu/phaserjs-oakwoods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Phaser.js = HTML5 ゲームフレームワーク。2D ゲーム開発に最適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468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🖼️ PixiJS ゲーム実装例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25254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926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4142"/>
                </a:solidFill>
              </a:rPr>
              <a:t>📁 Avalanche + PixiJS ウォークスルー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154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github.com/CobaltSato/avalanche-build-games-tool-kit/tree/walkthrough-pixi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3832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PixiJS = 高速 2D WebGL レンダリングエンジン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A7756"/>
                </a:solidFill>
              </a:rPr>
              <a:t>🏆 Claude Code ハッカソン優勝者の設定集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411480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25254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206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7756"/>
                </a:solidFill>
              </a:rPr>
              <a:t>📁 everything-claude-code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github.com/affaan-m/everything-claude-code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Anthropic x Forum Ventures ハッカソン優勝者が10ヶ月以上実戦で使い込んだベストプラクティス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74336"/>
            <a:ext cx="9144000" cy="109728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You!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6A085"/>
                </a:solidFill>
              </a:rPr>
              <a:t>Avalanche + AI Development Hands-on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0" y="2834640"/>
            <a:ext cx="5486400" cy="1463040"/>
          </a:xfrm>
          <a:prstGeom prst="roundRect">
            <a:avLst>
              <a:gd name="adj" fmla="val 9375"/>
            </a:avLst>
          </a:prstGeom>
          <a:solidFill>
            <a:srgbClr val="252540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2926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Questions?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3291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4142"/>
                </a:solidFill>
              </a:rPr>
              <a:t>Avalanche Game Build Tool Kit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35661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#AvalancheAI #GeminiCLI #ClaudeCode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384048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A7756"/>
                </a:solidFill>
              </a:rPr>
              <a:t>Claude Code を使いたい方 → PR #1 をチェック！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40233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98DB"/>
                </a:solidFill>
              </a:rPr>
              <a:t>github.com/CobaltSato/avalanche-build-games-tool-kit/pull/1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74336"/>
            <a:ext cx="9144000" cy="109728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🎨 Bonus: Gemini + frontend-design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A085"/>
                </a:solidFill>
              </a:rPr>
              <a:t>frontend-design スキルでプロ品質の UI デザインを生成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73736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4142"/>
                </a:solidFill>
              </a:rPr>
              <a:t>スキル有効化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6A085"/>
                </a:solidFill>
                <a:latin typeface="Courier New"/>
              </a:rPr>
              <a:t># Extension インストール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/>
              </a:rPr>
              <a:t>gemini extensions install \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/>
              </a:rPr>
              <a:t>  github.com/ankitchiplunkar/frontend-design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/>
              </a:rPr>
              <a:t> 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6A085"/>
                </a:solidFill>
                <a:latin typeface="Courier New"/>
              </a:rPr>
              <a:t># スキル有効化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/>
              </a:rPr>
              <a:t>gemini skills enable frontend-design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/>
              </a:rPr>
              <a:t>/skills list  # 確認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173736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4142"/>
                </a:solidFill>
              </a:rPr>
              <a:t>デザイン仕上げプロンプト例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46304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frontend-design スキルを使って、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グリッドゲームの UI をプロ品質に仕上げて。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6A085"/>
                </a:solidFill>
              </a:rPr>
              <a:t>要件: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Avalanche ブランドカラー (#E84142)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グリッドにホバーエフェクト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プレイヤーにアニメーション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ダークモード基調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25254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017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4142"/>
                </a:solidFill>
              </a:rPr>
              <a:t>期待される改善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29184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A085"/>
                </a:solidFill>
              </a:rPr>
              <a:t>Before</a:t>
            </a:r>
            <a:endParaRPr lang="en-US" sz="10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• カラー: デフォルト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• グリッド: 単純な border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• プレイヤー: 静的な表示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• ボタン: 基本的なスタイル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329184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4142"/>
                </a:solidFill>
              </a:rPr>
              <a:t>After ✨</a:t>
            </a:r>
            <a:endParaRPr lang="en-US" sz="10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カラー: Avalanche ブランドカラー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グリッド: グラデーション + ホバー効果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プレイヤー: パルスアニメーション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• ボタン: グラスモーフィズム / ネオン効果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Avalanche + AI Development Hands-on Demo</dc:title>
  <dc:subject>Gemini CLI + Claude Code を使った Avalanche ゲーム開発</dc:subject>
  <dc:creator>Avalanche Game Build Tool Kit</dc:creator>
  <cp:lastModifiedBy>Avalanche Game Build Tool Kit</cp:lastModifiedBy>
  <cp:revision>1</cp:revision>
  <dcterms:created xsi:type="dcterms:W3CDTF">2026-02-03T10:53:33Z</dcterms:created>
  <dcterms:modified xsi:type="dcterms:W3CDTF">2026-02-03T10:53:33Z</dcterms:modified>
</cp:coreProperties>
</file>