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1" r:id="rId7"/>
    <p:sldId id="286" r:id="rId37"/>
    <p:sldId id="262" r:id="rId8"/>
    <p:sldId id="263" r:id="rId9"/>
    <p:sldId id="264" r:id="rId10"/>
    <p:sldId id="265" r:id="rId11"/>
    <p:sldId id="266" r:id="rId12"/>
    <p:sldId id="267" r:id="rId13"/>
    <p:sldId id="287" r:id="rId38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6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2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Avalanche + AI Development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Hands-on Demo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Gemini CLI を使って、Avalanche ブロックチェーン上で動く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シンプルな 2D グリッドゲームを作成します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3931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0" y="3931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初心者向け + Claude Code 付録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Avalanche Game Build Tool Kit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今日作るもの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200400"/>
          </a:xfrm>
          <a:prstGeom prst="roundRect">
            <a:avLst>
              <a:gd name="adj" fmla="val 4286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10x10 グリッドゲーム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28016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9164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1460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0" y="164592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0312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1460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26080" y="205740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9164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03120" y="2468880"/>
            <a:ext cx="365760" cy="365760"/>
          </a:xfrm>
          <a:prstGeom prst="rect">
            <a:avLst/>
          </a:prstGeom>
          <a:solidFill>
            <a:srgbClr val="E84142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46888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8016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9164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0312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0" y="288036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9164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0312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1460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3291840"/>
            <a:ext cx="365760" cy="365760"/>
          </a:xfrm>
          <a:prstGeom prst="rect">
            <a:avLst/>
          </a:prstGeom>
          <a:solidFill>
            <a:srgbClr val="333355"/>
          </a:solidFill>
          <a:ln w="6350">
            <a:solidFill>
              <a:srgbClr val="4444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3749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← → ↑ ↓ で移動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2286000"/>
            <a:ext cx="731520" cy="45720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0" y="1005840"/>
            <a:ext cx="3108960" cy="3200400"/>
          </a:xfrm>
          <a:prstGeom prst="roundRect">
            <a:avLst>
              <a:gd name="adj" fmla="val 4412"/>
            </a:avLst>
          </a:prstGeom>
          <a:solidFill>
            <a:srgbClr val="252540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Avalanche Blockchain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6459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6459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Block #123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40880" y="210312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38" name="Shape 36"/>
          <p:cNvSpPr/>
          <p:nvPr/>
        </p:nvSpPr>
        <p:spPr>
          <a:xfrm>
            <a:off x="6126480" y="22860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0" y="22860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x: 5, y: 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2743200"/>
            <a:ext cx="182880" cy="182880"/>
          </a:xfrm>
          <a:prstGeom prst="downArrow">
            <a:avLst/>
          </a:prstGeom>
          <a:solidFill>
            <a:srgbClr val="CCCCCC"/>
          </a:solidFill>
          <a:ln/>
        </p:spPr>
      </p:sp>
      <p:sp>
        <p:nvSpPr>
          <p:cNvPr id="41" name="Shape 39"/>
          <p:cNvSpPr/>
          <p:nvPr/>
        </p:nvSpPr>
        <p:spPr>
          <a:xfrm>
            <a:off x="6126480" y="29260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Tx: 0x...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座標をブロックチェーンに保存！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Gemini CLI とは？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Google の Gemini AI をターミナルから直接操作できるコマンドラインツール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ファイル編集、シェルコマンド実行、Web アクセスなどの機能を備えた AI コーディングアシスタント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📁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ファイル操作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read/write/edit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で自動編集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56032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シェル実行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run_shell_command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でコマンド実行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5488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Web アクセス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web_fetch で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ドキュメント取得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011680"/>
            <a:ext cx="2011680" cy="1828800"/>
          </a:xfrm>
          <a:prstGeom prst="roundRect">
            <a:avLst>
              <a:gd name="adj" fmla="val 6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949440" y="2514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2834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専門知識を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オンデマンド追加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402336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D4A3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9B59B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8016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3 Pro/Flash 対応、MCP サーバー連携、サンドボックス実行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💡 Claude Code や Cursor と同じ「AIコーディングアシスタント」の仲間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デモの流れ（約30分）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7432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準備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Codespaces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Wallet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Gemini CLI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12" name="Shape 10"/>
          <p:cNvSpPr/>
          <p:nvPr/>
        </p:nvSpPr>
        <p:spPr>
          <a:xfrm>
            <a:off x="205740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560320" y="1188720"/>
            <a:ext cx="685800" cy="68580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05740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スキル導入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05740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AIに専門知識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を追加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37744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2分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4904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048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コントラクト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AIが Solidity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コードを生成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26" name="Text 24"/>
          <p:cNvSpPr/>
          <p:nvPr/>
        </p:nvSpPr>
        <p:spPr>
          <a:xfrm>
            <a:off x="416052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3212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28" name="Shape 26"/>
          <p:cNvSpPr/>
          <p:nvPr/>
        </p:nvSpPr>
        <p:spPr>
          <a:xfrm>
            <a:off x="562356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29" name="Shape 27"/>
          <p:cNvSpPr/>
          <p:nvPr/>
        </p:nvSpPr>
        <p:spPr>
          <a:xfrm>
            <a:off x="6126480" y="1188720"/>
            <a:ext cx="685800" cy="68580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562356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デプロイ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Fuji テストネット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に公開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5分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0" y="2468880"/>
            <a:ext cx="137160" cy="274320"/>
          </a:xfrm>
          <a:prstGeom prst="rightArrow">
            <a:avLst/>
          </a:prstGeom>
          <a:solidFill>
            <a:srgbClr val="666666"/>
          </a:solidFill>
          <a:ln/>
        </p:spPr>
      </p:sp>
      <p:sp>
        <p:nvSpPr>
          <p:cNvPr id="36" name="Shape 34"/>
          <p:cNvSpPr/>
          <p:nvPr/>
        </p:nvSpPr>
        <p:spPr>
          <a:xfrm>
            <a:off x="7406640" y="1005840"/>
            <a:ext cx="1691640" cy="3474720"/>
          </a:xfrm>
          <a:prstGeom prst="roundRect">
            <a:avLst>
              <a:gd name="adj" fmla="val 8108"/>
            </a:avLst>
          </a:prstGeom>
          <a:solidFill>
            <a:srgbClr val="252540"/>
          </a:solidFill>
          <a:ln/>
        </p:spPr>
      </p:sp>
      <p:sp>
        <p:nvSpPr>
          <p:cNvPr id="37" name="Shape 35"/>
          <p:cNvSpPr/>
          <p:nvPr/>
        </p:nvSpPr>
        <p:spPr>
          <a:xfrm>
            <a:off x="7909560" y="1188720"/>
            <a:ext cx="685800" cy="685800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38" name="Text 36"/>
          <p:cNvSpPr/>
          <p:nvPr/>
        </p:nvSpPr>
        <p:spPr>
          <a:xfrm>
            <a:off x="7909560" y="11887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406640" y="20116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アプリ作成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406640" y="24688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React ゲーム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をAIが生成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26680" y="39319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333355"/>
          </a:solidFill>
          <a:ln/>
        </p:spPr>
      </p:sp>
      <p:sp>
        <p:nvSpPr>
          <p:cNvPr id="42" name="Text 40"/>
          <p:cNvSpPr/>
          <p:nvPr/>
        </p:nvSpPr>
        <p:spPr>
          <a:xfrm>
            <a:off x="7726680" y="3931920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10分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GitHub Codespaces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GitHub が提供するクラウド開発環境。ブラウザ上で VS Code が動作し、ローカル環境構築が不要！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🔗 github.com/CobaltSato/avalanche-build-games-tool-kit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48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手順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上記 URL にアクセス → 「Code」ボタンをクリック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108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「Codespaces」タブを選択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1188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611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「Create codespace on main」をクリック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14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114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ブラウザで VS Code が起動するまで待つ（1-2分）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Core Wallet インストール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Core Wallet とは？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Avalanche 公式ウォレット。MetaMask より Avalanche に最適化。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C-Chain（EVM互換）と X-Chain/P-Chain の両方に対応！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インストール手順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560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1. Chrome ブラウザを開く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2. core.app/download にアクセス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455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3. 「Chrome」を選択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43814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4. 拡張機能をインストール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7307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5. ウォレットを作成/復元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2103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MetaMask じゃダメ？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46888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560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MetaMask でも OK！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でも Core Wallet は：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20040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Avalanche 専用設計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ネットワーク設定不要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6A085"/>
                </a:solidFill>
              </a:rPr>
              <a:t>✓ Subnet 対応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Gemini CLI 認証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認証方法は3つ（今回は Google OAuth を使用）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E84142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13990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3990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推奨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Google OAuth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1325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無料枠あり、最も簡単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3258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→ "Login with Google"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Gemini API Key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19202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モデル選択可能、有料枠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GEMINI_API_KEY="..."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5146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Vertex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25146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エンタープライズ向け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GOOGLE_GENAI_USE_VERTEXAI=true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Google OAuth の手順（公式ドキュメントより）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3566160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6118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gemini                           # ターミナルで実行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"Login with Google" を選択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ブラウザで Google アカウント認証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認証完了 → CLI に自動で戻る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基本操作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起動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4023360" cy="64008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80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対話モードで起動（初回は認証が必要）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1999" y="1234440"/>
            <a:ext cx="4206240" cy="64008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663439" y="1280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latest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39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前回のセッションを再開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A7756"/>
                </a:solidFill>
              </a:rPr>
              <a:t>基本操作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576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4142"/>
                </a:solidFill>
              </a:rPr>
              <a:t>Ctrl + C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6576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セッションを終了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FF88"/>
                </a:solidFill>
                <a:latin typeface="Courier New" pitchFamily="34" charset="0"/>
              </a:rPr>
              <a:t>/help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20040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ヘルプを表示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35040" y="2331720"/>
            <a:ext cx="265176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FF88"/>
                </a:solidFill>
                <a:latin typeface="Courier New" pitchFamily="34" charset="0"/>
              </a:rPr>
              <a:t>Enter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035040" y="27432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メッセージを送信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59B6"/>
                </a:solidFill>
              </a:rPr>
              <a:t>ツール実行の確認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65760" y="36118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Gemini がファイル編集やコマンド実行をする前に確認が表示されます: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y</a:t>
            </a:r>
            <a:r>
              <a:rPr lang="en-US" sz="1100" dirty="0">
                <a:solidFill>
                  <a:srgbClr val="CCCCCC"/>
                </a:solidFill>
              </a:rPr>
              <a:t> = 許可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n</a:t>
            </a:r>
            <a:r>
              <a:rPr lang="en-US" sz="1100" dirty="0">
                <a:solidFill>
                  <a:srgbClr val="CCCCCC"/>
                </a:solidFill>
              </a:rPr>
              <a:t> = 拒否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023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a</a:t>
            </a:r>
            <a:r>
              <a:rPr lang="en-US" sz="1100" dirty="0">
                <a:solidFill>
                  <a:srgbClr val="CCCCCC"/>
                </a:solidFill>
              </a:rPr>
              <a:t> = 今後すべて許可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663440"/>
            <a:ext cx="8412480" cy="365760"/>
          </a:xfrm>
          <a:prstGeom prst="roundRect">
            <a:avLst>
              <a:gd name="adj" fmla="val 25000"/>
            </a:avLst>
          </a:prstGeom>
          <a:solidFill>
            <a:srgbClr val="2D4A3E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困ったら日本語で質問するだけ！ Gemini が適切なツールを選んで実行します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スラッシュコマンド一覧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対話モード内で / から始まるコマンドで様々な操作が可能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基本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/tools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利用可能ツール一覧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モデル選択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/settings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設定エディタ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/theme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テーマ変更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画面クリア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セッション管理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セッション再開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保存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resume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復元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share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エクスポート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トークン節約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/rewind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巻き戻し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スキル・拡張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スキル一覧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再読み込み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コンテキスト表示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/extensions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拡張機能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/restore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ファイル復元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GEMINI.md コンテキストファイル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プロジェクト固有の指示を AI に伝える仕組み（Claude の CLAUDE.md と同様）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コーディングスタイル、API ガイドライン、依存関係ルールなどを設定可能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読み込み優先順位（階層構造）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94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~/.gemini/GEMINI.md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24505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グローバル（全プロジェクト共通）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28803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.gemini/GEMINI.md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1363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プロジェクトルート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20040" cy="32004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566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src/GEMINI.md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82219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サブディレクトリ（モジュール固有）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記述例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057400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0D0D1A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103120"/>
            <a:ext cx="39319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Project: My App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General Instructions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Follow existing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Add JSDoc comments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TypeScript 5.0+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Coding Style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 spaces for indentation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Interface names with `I` prefix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Always use strict equality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スキル（Skills）とは？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スキル = AI に「専門知識」をオンデマンドで追加する仕組み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ゲーム開発、API 設計など特定タスクに最適化された振る舞いを与えられます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347472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103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スキルなし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3774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「グリッドゲーム？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えーと、どう作るかな...」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2651760"/>
            <a:ext cx="548640" cy="365760"/>
          </a:xfrm>
          <a:prstGeom prst="rightArrow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3931920" y="3063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+スキル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46320" y="20116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スキルあり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3774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🎮🤖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937760" y="2834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「CSS Grid で10x10作って、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キーボードイベントで移動...」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今日使うスキル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16052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• react-css-grid-game-rendering  →  グリッドゲーム開発の専門知識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731520" cy="411480"/>
          </a:xfrm>
          <a:prstGeom prst="roundRect">
            <a:avLst>
              <a:gd name="adj" fmla="val 48889"/>
            </a:avLst>
          </a:prstGeom>
          <a:solidFill>
            <a:srgbClr val="F1C40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NEW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スキルの入手先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スキルは Gemini の Skill-Creator や Claude の /skill-create で相互変換可能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スキルファイルをダウンロードして変換ツールで利用可能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45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コミュニティリポジトリ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92024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VoltAgent/awesome-agent-skills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0" y="196596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200+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AI コーディングアシスタント向け公式キュレーション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5146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0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sickn33/antigravity-awesome-skills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0" y="251460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51460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626+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26974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最大のコミュニティコレクション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63440" y="1645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🔌 Gemini CLI Extensions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920240"/>
            <a:ext cx="4114800" cy="10058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geminicli.com/extensions/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0" y="1965960"/>
            <a:ext cx="640080" cy="182880"/>
          </a:xfrm>
          <a:prstGeom prst="roundRect">
            <a:avLst>
              <a:gd name="adj" fmla="val 48000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342+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54880" y="21488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MCP, Skills, Hooks, Context Tools など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54880" y="233172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DB, Cloud, AI/ML, 生産性ツールなど多数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54880" y="25146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※サードパーティ製。セキュリティ要確認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65760" y="3063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59B6"/>
                </a:solidFill>
              </a:rPr>
              <a:t>公式プラグイン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333756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3832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anthropic-agent-skills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3566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Anthropic 公式（Claude Code プラグイン内蔵）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63440" y="3337560"/>
            <a:ext cx="4114800" cy="457200"/>
          </a:xfrm>
          <a:prstGeom prst="roundRect">
            <a:avLst>
              <a:gd name="adj" fmla="val 13333"/>
            </a:avLst>
          </a:prstGeom>
          <a:solidFill>
            <a:srgbClr val="25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33832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buildatscale-tv/gemini-skills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0" y="3566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Gemini CLI 向けスキルテンプレート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3977640"/>
            <a:ext cx="8412480" cy="82296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98DB"/>
                </a:solidFill>
              </a:rPr>
              <a:t>📦 インストール例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extensions install https://github.com/ankitchiplunkar/frontend-design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スキルのインストール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1: ターミナルで実行（Gemini CLI の外で）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0D0D1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リポジトリ、ローカルディレクトリ、.skill ファイルからインストール可能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グリッドゲームスキル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https://github.com/CobaltSato/react-grid-game-rendering-skill/blob/main/react-css-grid-game-rendering.skill --scope workspace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Step 2: Gemini CLI 内でリロード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4023360" cy="640080"/>
          </a:xfrm>
          <a:prstGeom prst="roundRect">
            <a:avLst>
              <a:gd name="adj" fmla="val 14286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9260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reload    # スキルを再読み込み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      # インストール確認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スコープ（保存場所）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420624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92608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workspace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このプロジェクトのみ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--scope user (デフォルト)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~/.gemini/skills/ に保存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  → 全プロジェクト共通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25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7033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その他のスキル管理コマンド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list          # 一覧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    # 削除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enable/disable # 有効/無効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スマートコントラクト作成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スマートコントラクト = ブロックチェーン上で動く「自動実行プログラム」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データの保存・取得ルールを定義。一度デプロイすると改ざん不可能！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プレイヤーの 10x10 座標を保存・取得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できるコントラクトを作成して。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位置を初期化する関数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- 1歩移動する関数（上下左右）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座標は 0-9 の範囲に制限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出力先: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Solidity: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ABI: .env.local.example に追記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がやること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77840" y="2057400"/>
            <a:ext cx="3200400" cy="2286000"/>
          </a:xfrm>
          <a:prstGeom prst="roundRect">
            <a:avLst>
              <a:gd name="adj" fmla="val 4000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📄 Solidity コード生成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0" y="2697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💾 ファイルに保存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0" y="3154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📋 ABI を抽出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✅ 動作確認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142"/>
                </a:solidFill>
              </a:rPr>
              <a:t>Phase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コントラクトをデプロイ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Fuji テストネット = Avalanche の「練習場」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本番（Mainnet）と同じ仕組み。無料のテスト AVAX を使って開発・テストできます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テスト AVAX 取得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Faucet から無料で入手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build.avax.network/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console/primary-network/faucet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8328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434340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8328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Remix でデプロイ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remix.ethereum.org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で Solidity をコンパイル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→ Fuji にデプロイ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309360" y="18288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252540"/>
          </a:solidFill>
          <a:ln/>
        </p:spPr>
      </p:sp>
      <p:sp>
        <p:nvSpPr>
          <p:cNvPr id="20" name="Shape 18"/>
          <p:cNvSpPr/>
          <p:nvPr/>
        </p:nvSpPr>
        <p:spPr>
          <a:xfrm>
            <a:off x="7269480" y="196596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726948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309360" y="28346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環境変数設定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2004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cp .env.local.example .env.local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アドレスを設定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F1C40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Phase 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</a:rPr>
              <a:t>アプリ作成（メイン！）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1C40F"/>
                </a:solidFill>
              </a:rPr>
              <a:t>💡 タスク管理を AI にさせる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にフェーズ分割でタスクを管理させ、段階的に検収しながら進められます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085"/>
                </a:solidFill>
              </a:rPr>
              <a:t>Gemini に依頼するプロンプト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8412480" cy="2377440"/>
          </a:xfrm>
          <a:prstGeom prst="roundRect">
            <a:avLst>
              <a:gd name="adj" fmla="val 3846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4884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10x10 の 2D グリッドゲームを作成して。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要件: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react-css-grid-game-rendering スキルを使用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日本語で docs/task.md にタスクリストを生成（5フェーズ）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タスク完了ごとに task.md にチェックを入れる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フェーズごとにユーザー検収を促す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キーボード（↑↓←→）でプレイヤーを移動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移動時にコントラクトに座標を書き込む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参照ファイル: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contracts/PositionTracker.sol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- .env.local（コントラクトアドレス・ABI）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サーバー起動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ターミナルで実行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310896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ブラウザ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5176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18" name="Text 16"/>
          <p:cNvSpPr/>
          <p:nvPr/>
        </p:nvSpPr>
        <p:spPr>
          <a:xfrm>
            <a:off x="265176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localhost:3000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Wallet 接続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66344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ゲーム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→ ↑ 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矢印キーで移動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252540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0" y="1188720"/>
            <a:ext cx="731520" cy="7315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85800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確認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40880" y="2468880"/>
            <a:ext cx="1645920" cy="365760"/>
          </a:xfrm>
          <a:prstGeom prst="roundRect">
            <a:avLst>
              <a:gd name="adj" fmla="val 12500"/>
            </a:avLst>
          </a:prstGeom>
          <a:solidFill>
            <a:srgbClr val="0D0D1A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24688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2926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Tx を承認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566160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2D4A3E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🎉 座標がブロックチェーンに保存されることを確認！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リロードしても位置が保持されていれば成功です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🎉 デモ完了！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作ったもの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PositionTracker.sol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座標保存コントラクト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Grid Game 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React + CSS Grid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085"/>
                </a:solidFill>
              </a:rPr>
              <a:t>Wallet Integration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Core Wallet + ethers.js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142"/>
                </a:solidFill>
              </a:rPr>
              <a:t>学んだこと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11480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371600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371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20640" y="13716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Gemini CLI で AI 駆動開発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1755648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7556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7556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スキルで専門知識を追加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2139696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396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21396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Avalanche Fuji でデプロイ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2523744"/>
            <a:ext cx="274320" cy="27432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523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20640" y="25237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フェーズ分割でタスク管理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089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2D4A3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1C40F"/>
                </a:solidFill>
              </a:rPr>
              <a:t>💡 ポイント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AI（Gemini CLI）+ 専門知識（Skills）+ ブロックチェーン（Avalanche）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= 短時間で本格的な dApp が作れる！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📚 クイックリファレンス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Gemini CLI コマンド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0D0D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3444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起動オプション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-m gemini-2.5-flash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--resume [index/UUID]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--sandbox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--yolo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スラッシュコマンド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 /tools /model /settings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 list|reload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show|refresh|add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 save|resume|share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/compress /rewind /restore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 /extensions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スキル管理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install &lt;url&gt;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uninstall &lt;name&gt;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skills enable|disable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66344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参考リンク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114800" cy="2560320"/>
          </a:xfrm>
          <a:prstGeom prst="roundRect">
            <a:avLst>
              <a:gd name="adj" fmla="val 4348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28016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Core Wallet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0" y="144475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core.app/download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754880" y="166420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Fuji Faucet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8288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build.avax.network/console/primary-network/faucet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754880" y="204825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Remix IDE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2212848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remix.ethereum.org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754880" y="243230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Gemini CLI Docs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754880" y="2596896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github.com/google-gemini/gemini-cli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754880" y="281635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Skills Repo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2980944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github.com/CobaltSato/react-grid-game-rendering-skill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754880" y="32004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C40F"/>
                </a:solidFill>
              </a:rPr>
              <a:t>Cursor Directory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364992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cursor.directory (AI プロンプト・ルール集)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APPENDIX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Claude Code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Anthropic の AI コーディングアシスタント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Gemini CLI との比較 &amp; 実践ガイド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Claude Code とは？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25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Anthropic 公式の AI コーディングアシスタント CLI ツール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ファイル編集、コード生成、テスト実行、Git 操作などをターミナルから Claude と対話しながら実行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r>
              <a:rPr lang="en-US" sz="1100" b="1" dirty="0">
                <a:solidFill>
                  <a:srgbClr val="DA7756"/>
                </a:solidFill>
              </a:rPr>
              <a:t> CLAUDE.md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プロジェクトのルール・指示を定義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プロジェクトルートに配置で自動読込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./CLAUDE.md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.claude/rules/*.md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0040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r>
              <a:rPr lang="en-US" sz="1100" b="1" dirty="0">
                <a:solidFill>
                  <a:srgbClr val="DA7756"/>
                </a:solidFill>
              </a:rPr>
              <a:t> Commands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/plan /tdd などカスタムコマンド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0040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0040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.md を置くとコマンド化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.claude/commands/plan.md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/plan で実行可能に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35040" y="182880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r>
              <a:rPr lang="en-US" sz="1100" b="1" dirty="0">
                <a:solidFill>
                  <a:srgbClr val="DA7756"/>
                </a:solidFill>
              </a:rPr>
              <a:t> Agents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1945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専門特化サブエージェント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242316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35040" y="26060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.md を置くと Task で呼出可能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.claude/agents/planner.md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並列実行・専門タスク委任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🎣</a:t>
            </a:r>
            <a:r>
              <a:rPr lang="en-US" sz="1100" b="1" dirty="0">
                <a:solidFill>
                  <a:srgbClr val="DA7756"/>
                </a:solidFill>
              </a:rPr>
              <a:t> Hooks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ツール実行前後の自動処理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settings.json に定義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.claude/settings.json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自動フォーマット、型チェック等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20040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r>
              <a:rPr lang="en-US" sz="1100" b="1" dirty="0">
                <a:solidFill>
                  <a:srgbClr val="DA7756"/>
                </a:solidFill>
              </a:rPr>
              <a:t> Skills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再利用可能なワークフロー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0040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.skill を置くと自動有効化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.claude/skills/*.skill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Gemini と相互変換可能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6035040" y="3383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252540"/>
          </a:solidFill>
          <a:ln/>
        </p:spPr>
      </p:sp>
      <p:sp>
        <p:nvSpPr>
          <p:cNvPr id="33" name="Text 31"/>
          <p:cNvSpPr/>
          <p:nvPr/>
        </p:nvSpPr>
        <p:spPr>
          <a:xfrm>
            <a:off x="6035040" y="3429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r>
              <a:rPr lang="en-US" sz="1100" b="1" dirty="0">
                <a:solidFill>
                  <a:srgbClr val="DA7756"/>
                </a:solidFill>
              </a:rPr>
              <a:t> MCP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7490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外部サービス連携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035040" y="3977640"/>
            <a:ext cx="2651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085"/>
                </a:solidFill>
              </a:rPr>
              <a:t>使い方: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41605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JSON に設定で接続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ourier New" pitchFamily="34" charset="0"/>
              </a:rPr>
              <a:t>~/.claude.json (mcpServers)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</a:rPr>
              <a:t>→ Playwright, Context7 等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Gemini CLI vs Claude Code 比較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33335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機能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Gemini CLI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754880" y="914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A7756"/>
                </a:solidFill>
              </a:rPr>
              <a:t>Claude Code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0" y="914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CCCC"/>
                </a:solidFill>
              </a:rPr>
              <a:t>備考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173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コンテキストファイル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37744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754880" y="14173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0" y="1417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同じ仕組み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185623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18562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スキル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37744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54880" y="1856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32320" y="185623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変換可能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" y="2295144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95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フック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7744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(なし)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29514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PreToolUse / PostToolUse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32320" y="22951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のみ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34056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73405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MCP サポート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37744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273405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32320" y="273405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同じ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3172968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17296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スラッシュコマンド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37744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/skills, /memory 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172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/plan, /tdd 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132320" y="317296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異なるコマンド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611880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1E1E3A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3611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エージェント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(スキルで実現)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.claude/agents/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32320" y="361188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0792"/>
            <a:ext cx="8412480" cy="384048"/>
          </a:xfrm>
          <a:prstGeom prst="roundRect">
            <a:avLst>
              <a:gd name="adj" fmla="val 11905"/>
            </a:avLst>
          </a:prstGeom>
          <a:solidFill>
            <a:srgbClr val="252540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05079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ルール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37744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(GEMINI.md)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405079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.claude/rules/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132320" y="40507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Claude は専用機能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2D4A3E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スキルは Skill-Creator や /skill-create で相互変換可能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Hooks システム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Hooks = ツール実行の前後に自動実行されるイベント駆動スクリプト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セキュリティチェック、フォーマット、ログ記録などを自動化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16A08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PreToolUse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ファイル書き込み前に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6032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3" name="Shape 11"/>
          <p:cNvSpPr/>
          <p:nvPr/>
        </p:nvSpPr>
        <p:spPr>
          <a:xfrm>
            <a:off x="283464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3498DB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PostToolUse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ツール実行後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編集後に Prettier で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自動フォーマット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F1C40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セッション終了時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console.log の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残留チェック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49440" y="17373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252540"/>
          </a:solidFill>
          <a:ln/>
        </p:spPr>
      </p:sp>
      <p:sp>
        <p:nvSpPr>
          <p:cNvPr id="23" name="Shape 21"/>
          <p:cNvSpPr/>
          <p:nvPr/>
        </p:nvSpPr>
        <p:spPr>
          <a:xfrm>
            <a:off x="7223760" y="1828800"/>
            <a:ext cx="1463040" cy="320040"/>
          </a:xfrm>
          <a:prstGeom prst="roundRect">
            <a:avLst>
              <a:gd name="adj" fmla="val 48571"/>
            </a:avLst>
          </a:prstGeom>
          <a:solidFill>
            <a:srgbClr val="E84142"/>
          </a:solidFill>
          <a:ln/>
        </p:spPr>
      </p:sp>
      <p:sp>
        <p:nvSpPr>
          <p:cNvPr id="24" name="Text 22"/>
          <p:cNvSpPr/>
          <p:nvPr/>
        </p:nvSpPr>
        <p:spPr>
          <a:xfrm>
            <a:off x="7223760" y="18288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SessionStart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2240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セッション開始時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25603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プロジェクト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コンテキスト読み込み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PreToolUse フック例（JSON）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8862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0D0D1A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"PreToolUse": [{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"matcher": "Write|Edit",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"hooks": [{ "type": "prompt", "prompt": "Validate file write safety. Check: system paths, credentials. Return approve or deny."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スラッシュコマンド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💡 .claude/commands/ にカスタムコマンドを定義可能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開発ワークフロー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実装計画を作成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/tdd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/code-review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コードレビュー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/build-fix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ビルドエラー修正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/e2e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E2E テスト生成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/verify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検証ループ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コード品質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9184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/test-coverage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カバレッジ分析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/refactor-clean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328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不要コード削除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/security-review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8328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セキュリティチェック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8328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/update-docs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8328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/update-codemaps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328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コードマップ更新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/checkpoint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8328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状態保存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システム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173736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25254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828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09360" y="2029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ヘルプ表示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286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09360" y="24871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MCP サーバー管理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09360" y="27432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/context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443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コンテキスト管理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3200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34015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コンテキストクリア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36576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/skill-create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38587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スキル作成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4114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/orchestrate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09360" y="431596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マルチエージェント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エージェント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1C40F"/>
                </a:solidFill>
              </a:rPr>
              <a:t>💡 各エージェントは必要最小限のツールだけを持つ = 高速で正確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.claude/agents/ にカスタムエージェントを定義可能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実装計画・要件分析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システム設計・アーキテクチャ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737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tdd-guide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0574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テスト駆動開発ガイダンス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コード品質・セキュリティ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83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脆弱性分析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246888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4688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build-error-resolver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ビルドエラー診断・修正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e2e-runner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Playwright E2E テスト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29" name="Text 27"/>
          <p:cNvSpPr/>
          <p:nvPr/>
        </p:nvSpPr>
        <p:spPr>
          <a:xfrm>
            <a:off x="338328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refactor-cleaner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デッドコード削除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17920" y="320040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2004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77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doc-updater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520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ドキュメント更新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使用例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43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0D0D1A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エージェントを明示的に呼び出す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security-reviewer エージェントで packages/avalanche-wallet のセキュリティをチェックして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DA775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Claude Code 実践ワーク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💡 このリポジトリに実践ワークが含まれています → docs/work.md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/plan コマンド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実装計画を作成し、承認後に実装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46320" y="18288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94960" y="1783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/tdd コマンド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103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RED→GREEN→REFACTOR サイクル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/code-review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CRITICAL/HIGH/MEDIUM/LOW で評価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27432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26974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+ TDD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30175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E2E テスト駆動で UI 実装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0584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Playwright MCP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ブラウザ自動操作でデバッグ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74720"/>
            <a:ext cx="4114800" cy="822960"/>
          </a:xfrm>
          <a:prstGeom prst="roundRect">
            <a:avLst>
              <a:gd name="adj" fmla="val 11111"/>
            </a:avLst>
          </a:prstGeom>
          <a:solidFill>
            <a:srgbClr val="252540"/>
          </a:solidFill>
          <a:ln/>
        </p:spPr>
      </p:sp>
      <p:sp>
        <p:nvSpPr>
          <p:cNvPr id="32" name="Shape 30"/>
          <p:cNvSpPr/>
          <p:nvPr/>
        </p:nvSpPr>
        <p:spPr>
          <a:xfrm>
            <a:off x="4846320" y="3657600"/>
            <a:ext cx="457200" cy="457200"/>
          </a:xfrm>
          <a:prstGeom prst="ellipse">
            <a:avLst/>
          </a:prstGeom>
          <a:solidFill>
            <a:srgbClr val="DA7756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3611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Context7 MCP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94960" y="39319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最新ドキュメントをリアルタイム取得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448056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33335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📚 詳細: docs/Guide.md（Claude Code 機能ガイド）, docs/work.md（実践ワーク）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3498D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📚 参考リソース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🔌 Gemini CLI Extensions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342+ のコミュニティ製 Extension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MCP, Skills, Hooks, Context Tools など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📎 geminicli.com/extensions/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※サードパーティ製。セキュリティ要確認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663440" y="822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A7756"/>
                </a:solidFill>
              </a:rPr>
              <a:t>🏆 Claude Code 設定集（ハッカソン優勝）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114800" cy="82296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143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Anthropic x Forum Ventures 優勝者の設定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325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github.com/affaan-m/everything-claude-code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98DB"/>
                </a:solidFill>
              </a:rPr>
              <a:t>📝 zenn.dev/ttks/articles/a54c7520f827be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AAAAA"/>
                </a:solidFill>
              </a:rPr>
              <a:t>↑ 日本語解説記事（Zenn）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6576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🎮 Phaser 2D GameDev + Agent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377440"/>
            <a:ext cx="4114800" cy="73152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423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📺 youtube.com/watch?v=QPZCMd5REP8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2606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github.com/chongdashu/phaserjs-oakwoods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Oak Woods Platformer サンプル（Phaser.js）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66344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🖼️ PixiJS + Avalanche 実装例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377440"/>
            <a:ext cx="4114800" cy="73152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0" y="242316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142"/>
                </a:solidFill>
              </a:rPr>
              <a:t>📁 avalanche-build-games-tool-kit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6060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→ walkthrough-pixi ブランチ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54880" y="2788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高速 2D WebGL レンダリングエンジン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3291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59B6"/>
                </a:solidFill>
              </a:rPr>
              <a:t>📦 公式スキル・プラグイン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566160"/>
            <a:ext cx="4114800" cy="5486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611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Anthropic 公式 Claude Code Plugins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94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github.com/anthropics/claude-code/tree/main/plugins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3566160"/>
            <a:ext cx="4114800" cy="548640"/>
          </a:xfrm>
          <a:prstGeom prst="roundRect">
            <a:avLst>
              <a:gd name="adj" fmla="val 9091"/>
            </a:avLst>
          </a:prstGeom>
          <a:solidFill>
            <a:srgbClr val="252540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61188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B59B6"/>
                </a:solidFill>
              </a:rPr>
              <a:t>Cursor Directory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37947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</a:rPr>
              <a:t>cursor.directory/ (Solidity, React 等のベストプラクティス)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8412480" cy="5486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💡 Gemini CLI と Claude Code のスキルは相互変換可能 → Skill-Creator / /skill-create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085"/>
                </a:solidFill>
              </a:rPr>
              <a:t>Avalanche + AI Development Hands-on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834640"/>
            <a:ext cx="5486400" cy="1463040"/>
          </a:xfrm>
          <a:prstGeom prst="roundRect">
            <a:avLst>
              <a:gd name="adj" fmla="val 9375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Questions?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3291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4142"/>
                </a:solidFill>
              </a:rPr>
              <a:t>Avalanche Game Build Tool Kit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0" y="3566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#AvalancheAI #GeminiCLI #ClaudeCode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09728"/>
          </a:xfrm>
          <a:prstGeom prst="rect">
            <a:avLst/>
          </a:prstGeom>
          <a:solidFill>
            <a:srgbClr val="E841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🎨 Bonus: Gemini + frontend-design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6A085"/>
                </a:solidFill>
              </a:rPr>
              <a:t>frontend-design スキルでプロ品質の UI デザインを生成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スキル有効化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Extension インストール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extensions install \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 https://github.com/ankitchiplunkar/frontend-design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  <a:latin typeface="Courier New"/>
              </a:rPr>
              <a:t># スキル有効化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gemini skills enable frontend-design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/>
              </a:rPr>
              <a:t>/skills list  # 確認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73736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デザイン仕上げプロンプト例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463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frontend-design スキルを使って、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グリッドゲームの UI をプロ品質に仕上げて。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 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6A085"/>
                </a:solidFill>
              </a:rPr>
              <a:t>要件: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Avalanche ブランドカラー (#E84142)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グリッドにホバーエフェクト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プレイヤーにアニメーション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ダークモード基調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25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175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期待される改善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A085"/>
                </a:solidFill>
              </a:rPr>
              <a:t>Before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カラー: デフォルト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グリッド: 単純な border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プレイヤー: 静的な表示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• ボタン: 基本的なスタイル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329184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4142"/>
                </a:solidFill>
              </a:rPr>
              <a:t>After ✨</a:t>
            </a:r>
            <a:endParaRPr lang="en-US" sz="10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カラー: Avalanche ブランドカラー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グリッド: グラデーション + ホバー効果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プレイヤー: パルスアニメーション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• ボタン: グラスモーフィズム / ネオン効果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09728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085"/>
                </a:solidFill>
              </a:rPr>
              <a:t>Phase 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環境の動作確認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8412480" cy="914400"/>
          </a:xfrm>
          <a:prstGeom prst="roundRect">
            <a:avLst>
              <a:gd name="adj" fmla="val 8333"/>
            </a:avLst>
          </a:prstGeom>
          <a:solidFill>
            <a:srgbClr val="2D4A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C40F"/>
                </a:solidFill>
              </a:rPr>
              <a:t>💡 Codespaces 起動後、環境が正しくセットアップされているか確認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085"/>
                </a:solidFill>
                <a:latin typeface="Courier New"/>
              </a:rPr>
              <a:t>npm run dev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6576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確認ポイント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ターミナルに Local: http://localhost:3000 と表示されれば 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65760" cy="365760"/>
          </a:xfrm>
          <a:prstGeom prst="ellipse">
            <a:avLst/>
          </a:prstGeom>
          <a:solidFill>
            <a:srgbClr val="16A08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971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ポップアップで「Open in Browser」が表示されたらクリック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E8414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問題があれば npm ci を実行して依存関係を再インストール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252540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C40F"/>
                </a:solidFill>
              </a:rPr>
              <a:t>⚡ 起動確認できたら Ctrl+C で停止し、次の手順へ進む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💡 補足: エージェント vs スキル（Claude Code）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640080"/>
          </a:xfrm>
          <a:prstGeom prst="roundRect">
            <a:avLst>
              <a:gd name="adj" fmla="val 10000"/>
            </a:avLst>
          </a:prstGeom>
          <a:solidFill>
            <a:srgbClr val="2D4A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Claude Code では「エージェント」と「スキル」は異なる概念です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🎯 スキル (Skills)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/plan, /tdd などスラッシュコマンド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メインの Claude が実行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ユーザーが明示的に呼び出す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「手順書」のイメージ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737360"/>
            <a:ext cx="4114800" cy="1463040"/>
          </a:xfrm>
          <a:prstGeom prst="roundRect">
            <a:avLst>
              <a:gd name="adj" fmla="val 5556"/>
            </a:avLst>
          </a:prstGeom>
          <a:solidFill>
            <a:srgbClr val="E841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🤖 エージェント (Agents)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Task ツールで自動起動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独立したサブプロセス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• Claude が状況に応じて起動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1C40F"/>
                </a:solidFill>
              </a:rPr>
              <a:t>→ 「専門家チーム」のイメージ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085"/>
                </a:solidFill>
              </a:rPr>
              <a:t>スキルの例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ourier New"/>
              </a:rPr>
              <a:t>/plan  /tdd  /code-review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3383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142"/>
                </a:solidFill>
              </a:rPr>
              <a:t>エージェントの例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749040"/>
            <a:ext cx="4114800" cy="640080"/>
          </a:xfrm>
          <a:prstGeom prst="roundRect">
            <a:avLst>
              <a:gd name="adj" fmla="val 11429"/>
            </a:avLst>
          </a:prstGeom>
          <a:solidFill>
            <a:srgbClr val="25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</a:rPr>
              <a:t>planner  code-reviewer  build-error-resolver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4572000"/>
            <a:ext cx="8412480" cy="36576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📝 Gemini CLI では両方「スキル」として扱われます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Avalanche + AI Development Hands-on Demo</dc:title>
  <dc:subject>Gemini CLI + Claude Code を使った Avalanche ゲーム開発</dc:subject>
  <dc:creator>Avalanche Game Build Tool Kit</dc:creator>
  <cp:lastModifiedBy>Avalanche Game Build Tool Kit</cp:lastModifiedBy>
  <cp:revision>1</cp:revision>
  <dcterms:created xsi:type="dcterms:W3CDTF">2026-02-03T10:53:33Z</dcterms:created>
  <dcterms:modified xsi:type="dcterms:W3CDTF">2026-02-03T10:53:33Z</dcterms:modified>
</cp:coreProperties>
</file>