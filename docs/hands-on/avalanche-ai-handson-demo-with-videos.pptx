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slides/slide31.xml" ContentType="application/vnd.openxmlformats-officedocument.presentationml.slide+xml"/>
  <Override PartName="/ppt/slides/slide32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60" r:id="rId6"/>
    <p:sldId id="261" r:id="rId7"/>
    <p:sldId id="286" r:id="rId37"/>
    <p:sldId id="262" r:id="rId8"/>
    <p:sldId id="263" r:id="rId9"/>
    <p:sldId id="264" r:id="rId10"/>
    <p:sldId id="265" r:id="rId11"/>
    <p:sldId id="266" r:id="rId12"/>
    <p:sldId id="267" r:id="rId13"/>
    <p:sldId id="287" r:id="rId38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6"/>
  </p:sldIdLst>
  <p:notesMasterIdLst>
    <p:notesMasterId r:id="rId3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notesMaster" Target="notesMasters/notesMaster1.xml"/><Relationship Id="rId32" Type="http://schemas.openxmlformats.org/officeDocument/2006/relationships/presProps" Target="presProps.xml"/><Relationship Id="rId33" Type="http://schemas.openxmlformats.org/officeDocument/2006/relationships/viewProps" Target="viewProps.xml"/><Relationship Id="rId34" Type="http://schemas.openxmlformats.org/officeDocument/2006/relationships/theme" Target="theme/theme1.xml"/><Relationship Id="rId35" Type="http://schemas.openxmlformats.org/officeDocument/2006/relationships/tableStyles" Target="tableStyles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2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hyperlink" Target="https://github.com/CobaltSato/avalanche-build-games-tool-kit" TargetMode="External"/><Relationship Id="rId4" Type="http://schemas.openxmlformats.org/officeDocument/2006/relationships/hyperlink" Target="https://drive.google.com/file/d/1UrczlI6B9qfMd0AC3AAxEXL6mF0-Tb4h/view" TargetMode="External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hyperlink" Target="https://drive.google.com/file/d/1bvtthuZ-Ihp4DHm6CUQByPeYL57S5eLg/view" TargetMode="External"/><Relationship Id="rId4" Type="http://schemas.openxmlformats.org/officeDocument/2006/relationships/hyperlink" Target="https://docs.google.com/spreadsheets/d/1j3cgXLuGrxRjVCi7P7tkAr5IaEnnv7jPtV3Jrz2aDiU/edit?gid=949602416#gid=949602416" TargetMode="External"/><Relationship Id="rId5" Type="http://schemas.openxmlformats.org/officeDocument/2006/relationships/hyperlink" Target="https://core.app/download" TargetMode="External"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hyperlink" Target="https://drive.google.com/file/d/1xv2BBILRCIckLoGTJo_3bVvYZ5Lc7ylJ/view" TargetMode="External"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hyperlink" Target="https://github.com/VoltAgent/awesome-agent-skills" TargetMode="External"/><Relationship Id="rId4" Type="http://schemas.openxmlformats.org/officeDocument/2006/relationships/hyperlink" Target="https://github.com/sickn33/antigravity-awesome-skills" TargetMode="External"/><Relationship Id="rId5" Type="http://schemas.openxmlformats.org/officeDocument/2006/relationships/hyperlink" Target="https://geminicli.com/extensions/" TargetMode="External"/><Relationship Id="rId6" Type="http://schemas.openxmlformats.org/officeDocument/2006/relationships/hyperlink" Target="https://github.com/anthropics/claude-code/tree/main/plugins" TargetMode="External"/><Relationship Id="rId7" Type="http://schemas.openxmlformats.org/officeDocument/2006/relationships/hyperlink" Target="https://github.com/buildatscale-tv/gemini-skills" TargetMode="External"/><Relationship Id="rId8" Type="http://schemas.openxmlformats.org/officeDocument/2006/relationships/hyperlink" Target="https://github.com/ankitchiplunkar/frontend-design" TargetMode="External"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hyperlink" Target="https://github.com/CobaltSato/react-grid-game-rendering-skill" TargetMode="External"/><Relationship Id="rId4" Type="http://schemas.openxmlformats.org/officeDocument/2006/relationships/hyperlink" Target="https://drive.google.com/file/d/1tU4LBaKzDpOrcI3pVPzgn749ieJuuN7s/view" TargetMode="External"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hyperlink" Target="https://drive.google.com/file/d/1rMbl0TzMxUTrS5YydppEGE9m-bkxD_Mj/view" TargetMode="External"/><Relationship Id="rId4" Type="http://schemas.openxmlformats.org/officeDocument/2006/relationships/hyperlink" Target="https://drive.google.com/drive/folders/1CSodRovk0S2Wu0NNTlFl3z0rEF0tgHM2?usp=drive_link" TargetMode="External"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hyperlink" Target="https://build.avax.network/" TargetMode="External"/><Relationship Id="rId4" Type="http://schemas.openxmlformats.org/officeDocument/2006/relationships/hyperlink" Target="https://remix.ethereum.org" TargetMode="External"/><Relationship Id="rId5" Type="http://schemas.openxmlformats.org/officeDocument/2006/relationships/hyperlink" Target="https://drive.google.com/file/d/14eKzVflwBh5OpGP0DB-35DkGC2WW_9lI/view" TargetMode="External"/><Relationship Id="rId6" Type="http://schemas.openxmlformats.org/officeDocument/2006/relationships/hyperlink" Target="https://c.testnet.snowtrace.io/" TargetMode="External"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hyperlink" Target="https://drive.google.com/file/d/1NblXJ6mcxZ7gc-1lyXApNme85A0mHY_Z/view" TargetMode="External"/><Relationship Id="rId4" Type="http://schemas.openxmlformats.org/officeDocument/2006/relationships/hyperlink" Target="https://drive.google.com/file/d/1NblXJ6mcxZ7gc-1lyXApNme85A0mHY_Z/view" TargetMode="External"/><Relationship Id="rId5" Type="http://schemas.openxmlformats.org/officeDocument/2006/relationships/hyperlink" Target="https://drive.google.com/file/d/1OD5A1mqihJUUL5e63hLW_CCe-cjDGjv_/view" TargetMode="External"/><Relationship Id="rId6" Type="http://schemas.openxmlformats.org/officeDocument/2006/relationships/hyperlink" Target="https://drive.google.com/file/d/1B9L8jJwI4ztb5trA0Ny_SYYV6mlt3Hf3/view" TargetMode="External"/><Relationship Id="rId7" Type="http://schemas.openxmlformats.org/officeDocument/2006/relationships/hyperlink" Target="https://drive.google.com/file/d/1A99gq8F9JRR7rXmFXlU8Q7wo4KI_iF1b/view" TargetMode="External"/><Relationship Id="rId8" Type="http://schemas.openxmlformats.org/officeDocument/2006/relationships/hyperlink" Target="https://drive.google.com/file/d/1x7BfXj8-_WSFdMlcGyaiBR6xhDvN3nvs/view" TargetMode="External"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hyperlink" Target="https://core.app/download" TargetMode="External"/><Relationship Id="rId4" Type="http://schemas.openxmlformats.org/officeDocument/2006/relationships/hyperlink" Target="https://build.avax.network/console/primary-network/faucet" TargetMode="External"/><Relationship Id="rId5" Type="http://schemas.openxmlformats.org/officeDocument/2006/relationships/hyperlink" Target="https://remix.ethereum.org" TargetMode="External"/><Relationship Id="rId6" Type="http://schemas.openxmlformats.org/officeDocument/2006/relationships/hyperlink" Target="https://github.com/google-gemini/gemini-cli" TargetMode="External"/><Relationship Id="rId7" Type="http://schemas.openxmlformats.org/officeDocument/2006/relationships/hyperlink" Target="https://github.com/CobaltSato/react-grid-game-rendering-skill" TargetMode="External"/><Relationship Id="rId8" Type="http://schemas.openxmlformats.org/officeDocument/2006/relationships/hyperlink" Target="https://cursor.directory" TargetMode="External"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3" Type="http://schemas.openxmlformats.org/officeDocument/2006/relationships/hyperlink" Target="https://github.com/CobaltSato/avalanche-build-games-tool-kit/blob/main/docs/Guide.md" TargetMode="External"/><Relationship Id="rId4" Type="http://schemas.openxmlformats.org/officeDocument/2006/relationships/hyperlink" Target="https://github.com/CobaltSato/avalanche-build-games-tool-kit/blob/main/docs/Claude-QuickStart.md" TargetMode="External"/></Relationships>
</file>

<file path=ppt/slides/_rels/slide28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3" Type="http://schemas.openxmlformats.org/officeDocument/2006/relationships/hyperlink" Target="https://geminicli.com/extensions/" TargetMode="External"/><Relationship Id="rId4" Type="http://schemas.openxmlformats.org/officeDocument/2006/relationships/hyperlink" Target="https://github.com/affaan-m/everything-claude-code" TargetMode="External"/><Relationship Id="rId5" Type="http://schemas.openxmlformats.org/officeDocument/2006/relationships/hyperlink" Target="https://zenn.dev/ttks/articles/a54c7520f827be" TargetMode="External"/><Relationship Id="rId6" Type="http://schemas.openxmlformats.org/officeDocument/2006/relationships/hyperlink" Target="https://youtube.com/watch?v=QPZCMd5REP8" TargetMode="External"/><Relationship Id="rId7" Type="http://schemas.openxmlformats.org/officeDocument/2006/relationships/hyperlink" Target="https://github.com/chongdashu/phaserjs-oakwoods" TargetMode="External"/><Relationship Id="rId8" Type="http://schemas.openxmlformats.org/officeDocument/2006/relationships/hyperlink" Target="https://github.com/anthropics/claude-code/tree/main/plugins" TargetMode="External"/><Relationship Id="rId9" Type="http://schemas.openxmlformats.org/officeDocument/2006/relationships/hyperlink" Target="https://cursor.directory/" TargetMode="External"/><Relationship Id="rId10" Type="http://schemas.openxmlformats.org/officeDocument/2006/relationships/hyperlink" Target="https://github.com/CobaltSato/avalanche-build-games-tool-kit/tree/walkthrough-pixi" TargetMode="External"/></Relationships>
</file>

<file path=ppt/slides/_rels/slide29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3" Type="http://schemas.openxmlformats.org/officeDocument/2006/relationships/hyperlink" Target="https://build.avax.network/build-games?ref=cmhs-2t37-yuki_web3_jp" TargetMode="External"/></Relationships>
</file>

<file path=ppt/slides/_rels/slide30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3" Type="http://schemas.openxmlformats.org/officeDocument/2006/relationships/hyperlink" Target="https://drive.google.com/file/d/1edaxTkCy3_Afhisimki12p-R9ea04Hx2/view" TargetMode="External"/></Relationships>
</file>

<file path=ppt/slides/_rels/slide3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E8414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</a:rPr>
              <a:t>Avalanche + AI Development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457200" y="23774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E84142"/>
                </a:solidFill>
              </a:rPr>
              <a:t>Hands-on Demo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914400" y="301752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CCCCC"/>
                </a:solidFill>
              </a:rPr>
              <a:t>Gemini CLI を使って、Avalanche ブロックチェーン上で動く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CCCCCC"/>
                </a:solidFill>
              </a:rPr>
              <a:t>シンプルな 2D グリッドゲームを作成します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2926080" y="3931920"/>
            <a:ext cx="3291840" cy="457200"/>
          </a:xfrm>
          <a:prstGeom prst="roundRect">
            <a:avLst>
              <a:gd name="adj" fmla="val 50000"/>
            </a:avLst>
          </a:prstGeom>
          <a:solidFill>
            <a:srgbClr val="16A085"/>
          </a:solidFill>
          <a:ln/>
        </p:spPr>
      </p:sp>
      <p:sp>
        <p:nvSpPr>
          <p:cNvPr id="7" name="Text 5"/>
          <p:cNvSpPr/>
          <p:nvPr/>
        </p:nvSpPr>
        <p:spPr>
          <a:xfrm>
            <a:off x="2926080" y="393192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入門編 + Claude Code 付録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45720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66666"/>
                </a:solidFill>
              </a:rPr>
              <a:t>Avalanche Game Build Tool Kit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E8414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今日作るもの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4114800" cy="3200400"/>
          </a:xfrm>
          <a:prstGeom prst="roundRect">
            <a:avLst>
              <a:gd name="adj" fmla="val 4286"/>
            </a:avLst>
          </a:prstGeom>
          <a:solidFill>
            <a:srgbClr val="252540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09728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10x10 グリッドゲーム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280160" y="1645920"/>
            <a:ext cx="365760" cy="365760"/>
          </a:xfrm>
          <a:prstGeom prst="rect">
            <a:avLst/>
          </a:prstGeom>
          <a:solidFill>
            <a:srgbClr val="333355"/>
          </a:solidFill>
          <a:ln w="6350">
            <a:solidFill>
              <a:srgbClr val="44446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691640" y="1645920"/>
            <a:ext cx="365760" cy="365760"/>
          </a:xfrm>
          <a:prstGeom prst="rect">
            <a:avLst/>
          </a:prstGeom>
          <a:solidFill>
            <a:srgbClr val="333355"/>
          </a:solidFill>
          <a:ln w="6350">
            <a:solidFill>
              <a:srgbClr val="44446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103120" y="1645920"/>
            <a:ext cx="365760" cy="365760"/>
          </a:xfrm>
          <a:prstGeom prst="rect">
            <a:avLst/>
          </a:prstGeom>
          <a:solidFill>
            <a:srgbClr val="333355"/>
          </a:solidFill>
          <a:ln w="6350">
            <a:solidFill>
              <a:srgbClr val="44446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514600" y="1645920"/>
            <a:ext cx="365760" cy="365760"/>
          </a:xfrm>
          <a:prstGeom prst="rect">
            <a:avLst/>
          </a:prstGeom>
          <a:solidFill>
            <a:srgbClr val="333355"/>
          </a:solidFill>
          <a:ln w="6350">
            <a:solidFill>
              <a:srgbClr val="44446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926080" y="1645920"/>
            <a:ext cx="365760" cy="365760"/>
          </a:xfrm>
          <a:prstGeom prst="rect">
            <a:avLst/>
          </a:prstGeom>
          <a:solidFill>
            <a:srgbClr val="333355"/>
          </a:solidFill>
          <a:ln w="6350">
            <a:solidFill>
              <a:srgbClr val="44446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280160" y="2057400"/>
            <a:ext cx="365760" cy="365760"/>
          </a:xfrm>
          <a:prstGeom prst="rect">
            <a:avLst/>
          </a:prstGeom>
          <a:solidFill>
            <a:srgbClr val="333355"/>
          </a:solidFill>
          <a:ln w="6350">
            <a:solidFill>
              <a:srgbClr val="44446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691640" y="2057400"/>
            <a:ext cx="365760" cy="365760"/>
          </a:xfrm>
          <a:prstGeom prst="rect">
            <a:avLst/>
          </a:prstGeom>
          <a:solidFill>
            <a:srgbClr val="333355"/>
          </a:solidFill>
          <a:ln w="6350">
            <a:solidFill>
              <a:srgbClr val="44446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103120" y="2057400"/>
            <a:ext cx="365760" cy="365760"/>
          </a:xfrm>
          <a:prstGeom prst="rect">
            <a:avLst/>
          </a:prstGeom>
          <a:solidFill>
            <a:srgbClr val="333355"/>
          </a:solidFill>
          <a:ln w="6350">
            <a:solidFill>
              <a:srgbClr val="44446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514600" y="2057400"/>
            <a:ext cx="365760" cy="365760"/>
          </a:xfrm>
          <a:prstGeom prst="rect">
            <a:avLst/>
          </a:prstGeom>
          <a:solidFill>
            <a:srgbClr val="333355"/>
          </a:solidFill>
          <a:ln w="6350">
            <a:solidFill>
              <a:srgbClr val="44446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926080" y="2057400"/>
            <a:ext cx="365760" cy="365760"/>
          </a:xfrm>
          <a:prstGeom prst="rect">
            <a:avLst/>
          </a:prstGeom>
          <a:solidFill>
            <a:srgbClr val="333355"/>
          </a:solidFill>
          <a:ln w="6350">
            <a:solidFill>
              <a:srgbClr val="44446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280160" y="2468880"/>
            <a:ext cx="365760" cy="365760"/>
          </a:xfrm>
          <a:prstGeom prst="rect">
            <a:avLst/>
          </a:prstGeom>
          <a:solidFill>
            <a:srgbClr val="333355"/>
          </a:solidFill>
          <a:ln w="6350">
            <a:solidFill>
              <a:srgbClr val="44446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691640" y="2468880"/>
            <a:ext cx="365760" cy="365760"/>
          </a:xfrm>
          <a:prstGeom prst="rect">
            <a:avLst/>
          </a:prstGeom>
          <a:solidFill>
            <a:srgbClr val="333355"/>
          </a:solidFill>
          <a:ln w="6350">
            <a:solidFill>
              <a:srgbClr val="44446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103120" y="2468880"/>
            <a:ext cx="365760" cy="365760"/>
          </a:xfrm>
          <a:prstGeom prst="rect">
            <a:avLst/>
          </a:prstGeom>
          <a:solidFill>
            <a:srgbClr val="E84142"/>
          </a:solidFill>
          <a:ln w="6350">
            <a:solidFill>
              <a:srgbClr val="44446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514600" y="2468880"/>
            <a:ext cx="365760" cy="365760"/>
          </a:xfrm>
          <a:prstGeom prst="rect">
            <a:avLst/>
          </a:prstGeom>
          <a:solidFill>
            <a:srgbClr val="333355"/>
          </a:solidFill>
          <a:ln w="6350">
            <a:solidFill>
              <a:srgbClr val="44446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926080" y="2468880"/>
            <a:ext cx="365760" cy="365760"/>
          </a:xfrm>
          <a:prstGeom prst="rect">
            <a:avLst/>
          </a:prstGeom>
          <a:solidFill>
            <a:srgbClr val="333355"/>
          </a:solidFill>
          <a:ln w="6350">
            <a:solidFill>
              <a:srgbClr val="44446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280160" y="2880360"/>
            <a:ext cx="365760" cy="365760"/>
          </a:xfrm>
          <a:prstGeom prst="rect">
            <a:avLst/>
          </a:prstGeom>
          <a:solidFill>
            <a:srgbClr val="333355"/>
          </a:solidFill>
          <a:ln w="6350">
            <a:solidFill>
              <a:srgbClr val="44446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691640" y="2880360"/>
            <a:ext cx="365760" cy="365760"/>
          </a:xfrm>
          <a:prstGeom prst="rect">
            <a:avLst/>
          </a:prstGeom>
          <a:solidFill>
            <a:srgbClr val="333355"/>
          </a:solidFill>
          <a:ln w="6350">
            <a:solidFill>
              <a:srgbClr val="44446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103120" y="2880360"/>
            <a:ext cx="365760" cy="365760"/>
          </a:xfrm>
          <a:prstGeom prst="rect">
            <a:avLst/>
          </a:prstGeom>
          <a:solidFill>
            <a:srgbClr val="333355"/>
          </a:solidFill>
          <a:ln w="6350">
            <a:solidFill>
              <a:srgbClr val="44446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514600" y="2880360"/>
            <a:ext cx="365760" cy="365760"/>
          </a:xfrm>
          <a:prstGeom prst="rect">
            <a:avLst/>
          </a:prstGeom>
          <a:solidFill>
            <a:srgbClr val="333355"/>
          </a:solidFill>
          <a:ln w="6350">
            <a:solidFill>
              <a:srgbClr val="44446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926080" y="2880360"/>
            <a:ext cx="365760" cy="365760"/>
          </a:xfrm>
          <a:prstGeom prst="rect">
            <a:avLst/>
          </a:prstGeom>
          <a:solidFill>
            <a:srgbClr val="333355"/>
          </a:solidFill>
          <a:ln w="6350">
            <a:solidFill>
              <a:srgbClr val="44446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280160" y="3291840"/>
            <a:ext cx="365760" cy="365760"/>
          </a:xfrm>
          <a:prstGeom prst="rect">
            <a:avLst/>
          </a:prstGeom>
          <a:solidFill>
            <a:srgbClr val="333355"/>
          </a:solidFill>
          <a:ln w="6350">
            <a:solidFill>
              <a:srgbClr val="44446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691640" y="3291840"/>
            <a:ext cx="365760" cy="365760"/>
          </a:xfrm>
          <a:prstGeom prst="rect">
            <a:avLst/>
          </a:prstGeom>
          <a:solidFill>
            <a:srgbClr val="333355"/>
          </a:solidFill>
          <a:ln w="6350">
            <a:solidFill>
              <a:srgbClr val="44446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103120" y="3291840"/>
            <a:ext cx="365760" cy="365760"/>
          </a:xfrm>
          <a:prstGeom prst="rect">
            <a:avLst/>
          </a:prstGeom>
          <a:solidFill>
            <a:srgbClr val="333355"/>
          </a:solidFill>
          <a:ln w="6350">
            <a:solidFill>
              <a:srgbClr val="44446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514600" y="3291840"/>
            <a:ext cx="365760" cy="365760"/>
          </a:xfrm>
          <a:prstGeom prst="rect">
            <a:avLst/>
          </a:prstGeom>
          <a:solidFill>
            <a:srgbClr val="333355"/>
          </a:solidFill>
          <a:ln w="6350">
            <a:solidFill>
              <a:srgbClr val="44446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926080" y="3291840"/>
            <a:ext cx="365760" cy="365760"/>
          </a:xfrm>
          <a:prstGeom prst="rect">
            <a:avLst/>
          </a:prstGeom>
          <a:solidFill>
            <a:srgbClr val="333355"/>
          </a:solidFill>
          <a:ln w="6350">
            <a:solidFill>
              <a:srgbClr val="44446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57200" y="374904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CCCCC"/>
                </a:solidFill>
              </a:rPr>
              <a:t>← → ↑ ↓ で移動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4754880" y="2286000"/>
            <a:ext cx="731520" cy="457200"/>
          </a:xfrm>
          <a:prstGeom prst="rightArrow">
            <a:avLst/>
          </a:prstGeom>
          <a:solidFill>
            <a:srgbClr val="16A085"/>
          </a:solidFill>
          <a:ln/>
        </p:spPr>
      </p:sp>
      <p:sp>
        <p:nvSpPr>
          <p:cNvPr id="33" name="Shape 31"/>
          <p:cNvSpPr/>
          <p:nvPr/>
        </p:nvSpPr>
        <p:spPr>
          <a:xfrm>
            <a:off x="5669280" y="1005840"/>
            <a:ext cx="3108960" cy="3200400"/>
          </a:xfrm>
          <a:prstGeom prst="roundRect">
            <a:avLst>
              <a:gd name="adj" fmla="val 4412"/>
            </a:avLst>
          </a:prstGeom>
          <a:solidFill>
            <a:srgbClr val="252540"/>
          </a:solidFill>
          <a:ln/>
        </p:spPr>
      </p:sp>
      <p:sp>
        <p:nvSpPr>
          <p:cNvPr id="34" name="Text 32"/>
          <p:cNvSpPr/>
          <p:nvPr/>
        </p:nvSpPr>
        <p:spPr>
          <a:xfrm>
            <a:off x="5669280" y="109728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Avalanche Blockchain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6126480" y="1645920"/>
            <a:ext cx="2194560" cy="502920"/>
          </a:xfrm>
          <a:prstGeom prst="roundRect">
            <a:avLst>
              <a:gd name="adj" fmla="val 14545"/>
            </a:avLst>
          </a:prstGeom>
          <a:solidFill>
            <a:srgbClr val="E84142"/>
          </a:solidFill>
          <a:ln/>
        </p:spPr>
      </p:sp>
      <p:sp>
        <p:nvSpPr>
          <p:cNvPr id="36" name="Text 34"/>
          <p:cNvSpPr/>
          <p:nvPr/>
        </p:nvSpPr>
        <p:spPr>
          <a:xfrm>
            <a:off x="6126480" y="164592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Block #123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7040880" y="2103120"/>
            <a:ext cx="182880" cy="182880"/>
          </a:xfrm>
          <a:prstGeom prst="downArrow">
            <a:avLst/>
          </a:prstGeom>
          <a:solidFill>
            <a:srgbClr val="CCCCCC"/>
          </a:solidFill>
          <a:ln/>
        </p:spPr>
      </p:sp>
      <p:sp>
        <p:nvSpPr>
          <p:cNvPr id="38" name="Shape 36"/>
          <p:cNvSpPr/>
          <p:nvPr/>
        </p:nvSpPr>
        <p:spPr>
          <a:xfrm>
            <a:off x="6126480" y="2286000"/>
            <a:ext cx="2194560" cy="502920"/>
          </a:xfrm>
          <a:prstGeom prst="roundRect">
            <a:avLst>
              <a:gd name="adj" fmla="val 14545"/>
            </a:avLst>
          </a:prstGeom>
          <a:solidFill>
            <a:srgbClr val="E84142"/>
          </a:solidFill>
          <a:ln/>
        </p:spPr>
      </p:sp>
      <p:sp>
        <p:nvSpPr>
          <p:cNvPr id="39" name="Text 37"/>
          <p:cNvSpPr/>
          <p:nvPr/>
        </p:nvSpPr>
        <p:spPr>
          <a:xfrm>
            <a:off x="6126480" y="228600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x: 5, y: 3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7040880" y="2743200"/>
            <a:ext cx="182880" cy="182880"/>
          </a:xfrm>
          <a:prstGeom prst="downArrow">
            <a:avLst/>
          </a:prstGeom>
          <a:solidFill>
            <a:srgbClr val="CCCCCC"/>
          </a:solidFill>
          <a:ln/>
        </p:spPr>
      </p:sp>
      <p:sp>
        <p:nvSpPr>
          <p:cNvPr id="41" name="Shape 39"/>
          <p:cNvSpPr/>
          <p:nvPr/>
        </p:nvSpPr>
        <p:spPr>
          <a:xfrm>
            <a:off x="6126480" y="2926080"/>
            <a:ext cx="2194560" cy="502920"/>
          </a:xfrm>
          <a:prstGeom prst="roundRect">
            <a:avLst>
              <a:gd name="adj" fmla="val 14545"/>
            </a:avLst>
          </a:prstGeom>
          <a:solidFill>
            <a:srgbClr val="E84142"/>
          </a:solidFill>
          <a:ln/>
        </p:spPr>
      </p:sp>
      <p:sp>
        <p:nvSpPr>
          <p:cNvPr id="42" name="Text 40"/>
          <p:cNvSpPr/>
          <p:nvPr/>
        </p:nvSpPr>
        <p:spPr>
          <a:xfrm>
            <a:off x="6126480" y="292608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Tx: 0x...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5669280" y="374904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6A085"/>
                </a:solidFill>
              </a:rPr>
              <a:t>座標をブロックチェーンに保存！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6A085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Gemini CLI とは？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8412480" cy="914400"/>
          </a:xfrm>
          <a:prstGeom prst="roundRect">
            <a:avLst>
              <a:gd name="adj" fmla="val 10000"/>
            </a:avLst>
          </a:prstGeom>
          <a:solidFill>
            <a:srgbClr val="252540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Google の Gemini AI をターミナルから直接操作できるコマンドラインツール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57200" y="14173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CCCCC"/>
                </a:solidFill>
              </a:rPr>
              <a:t>ファイル編集、シェルコマンド実行、Web アクセスなどの機能を備えた AI コーディングアシスタント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2011680"/>
            <a:ext cx="2011680" cy="1828800"/>
          </a:xfrm>
          <a:prstGeom prst="roundRect">
            <a:avLst>
              <a:gd name="adj" fmla="val 6000"/>
            </a:avLst>
          </a:prstGeom>
          <a:solidFill>
            <a:srgbClr val="252540"/>
          </a:solidFill>
          <a:ln/>
        </p:spPr>
      </p:sp>
      <p:sp>
        <p:nvSpPr>
          <p:cNvPr id="8" name="Text 6"/>
          <p:cNvSpPr/>
          <p:nvPr/>
        </p:nvSpPr>
        <p:spPr>
          <a:xfrm>
            <a:off x="365760" y="210312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📁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365760" y="251460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6A085"/>
                </a:solidFill>
              </a:rPr>
              <a:t>ファイル操作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65760" y="28346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CCCCC"/>
                </a:solidFill>
              </a:rPr>
              <a:t>read/write/edit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CCCCCC"/>
                </a:solidFill>
              </a:rPr>
              <a:t>で自動編集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560320" y="2011680"/>
            <a:ext cx="2011680" cy="1828800"/>
          </a:xfrm>
          <a:prstGeom prst="roundRect">
            <a:avLst>
              <a:gd name="adj" fmla="val 6000"/>
            </a:avLst>
          </a:prstGeom>
          <a:solidFill>
            <a:srgbClr val="252540"/>
          </a:solidFill>
          <a:ln/>
        </p:spPr>
      </p:sp>
      <p:sp>
        <p:nvSpPr>
          <p:cNvPr id="12" name="Text 10"/>
          <p:cNvSpPr/>
          <p:nvPr/>
        </p:nvSpPr>
        <p:spPr>
          <a:xfrm>
            <a:off x="2560320" y="210312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⚡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2560320" y="251460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6A085"/>
                </a:solidFill>
              </a:rPr>
              <a:t>シェル実行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560320" y="28346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CCCCC"/>
                </a:solidFill>
              </a:rPr>
              <a:t>run_shell_command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CCCCCC"/>
                </a:solidFill>
              </a:rPr>
              <a:t>でコマンド実行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754880" y="2011680"/>
            <a:ext cx="2011680" cy="1828800"/>
          </a:xfrm>
          <a:prstGeom prst="roundRect">
            <a:avLst>
              <a:gd name="adj" fmla="val 6000"/>
            </a:avLst>
          </a:prstGeom>
          <a:solidFill>
            <a:srgbClr val="252540"/>
          </a:solidFill>
          <a:ln/>
        </p:spPr>
      </p:sp>
      <p:sp>
        <p:nvSpPr>
          <p:cNvPr id="16" name="Text 14"/>
          <p:cNvSpPr/>
          <p:nvPr/>
        </p:nvSpPr>
        <p:spPr>
          <a:xfrm>
            <a:off x="4754880" y="210312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🌐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4754880" y="251460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6A085"/>
                </a:solidFill>
              </a:rPr>
              <a:t>Web アクセス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754880" y="28346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CCCCC"/>
                </a:solidFill>
              </a:rPr>
              <a:t>web_fetch で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CCCCCC"/>
                </a:solidFill>
              </a:rPr>
              <a:t>ドキュメント取得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949440" y="2011680"/>
            <a:ext cx="2011680" cy="1828800"/>
          </a:xfrm>
          <a:prstGeom prst="roundRect">
            <a:avLst>
              <a:gd name="adj" fmla="val 6000"/>
            </a:avLst>
          </a:prstGeom>
          <a:solidFill>
            <a:srgbClr val="252540"/>
          </a:solidFill>
          <a:ln/>
        </p:spPr>
      </p:sp>
      <p:sp>
        <p:nvSpPr>
          <p:cNvPr id="20" name="Text 18"/>
          <p:cNvSpPr/>
          <p:nvPr/>
        </p:nvSpPr>
        <p:spPr>
          <a:xfrm>
            <a:off x="6949440" y="210312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🎯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6949440" y="251460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6A085"/>
                </a:solidFill>
              </a:rPr>
              <a:t>スキル機能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949440" y="28346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CCCCC"/>
                </a:solidFill>
              </a:rPr>
              <a:t>専門知識を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CCCCCC"/>
                </a:solidFill>
              </a:rPr>
              <a:t>オンデマンド追加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65760" y="4023360"/>
            <a:ext cx="8412480" cy="822960"/>
          </a:xfrm>
          <a:prstGeom prst="roundRect">
            <a:avLst>
              <a:gd name="adj" fmla="val 8889"/>
            </a:avLst>
          </a:prstGeom>
          <a:solidFill>
            <a:srgbClr val="2D4A3E"/>
          </a:solidFill>
          <a:ln/>
        </p:spPr>
      </p:sp>
      <p:sp>
        <p:nvSpPr>
          <p:cNvPr id="24" name="Shape 22"/>
          <p:cNvSpPr/>
          <p:nvPr/>
        </p:nvSpPr>
        <p:spPr>
          <a:xfrm>
            <a:off x="457200" y="4114800"/>
            <a:ext cx="731520" cy="274320"/>
          </a:xfrm>
          <a:prstGeom prst="roundRect">
            <a:avLst>
              <a:gd name="adj" fmla="val 50000"/>
            </a:avLst>
          </a:prstGeom>
          <a:solidFill>
            <a:srgbClr val="9B59B6"/>
          </a:solidFill>
          <a:ln/>
        </p:spPr>
      </p:sp>
      <p:sp>
        <p:nvSpPr>
          <p:cNvPr id="25" name="Text 23"/>
          <p:cNvSpPr/>
          <p:nvPr/>
        </p:nvSpPr>
        <p:spPr>
          <a:xfrm>
            <a:off x="457200" y="41148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NEW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280160" y="4114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Gemini 3 Pro/Flash 対応、MCP サーバー連携、サンドボックス実行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57200" y="44348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CCCCC"/>
                </a:solidFill>
              </a:rPr>
              <a:t>💡 Claude Code や Cursor と同じ「AIコーディングアシスタント」の仲間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E8414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デモの流れ（約30分）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1691640" cy="3474720"/>
          </a:xfrm>
          <a:prstGeom prst="roundRect">
            <a:avLst>
              <a:gd name="adj" fmla="val 8108"/>
            </a:avLst>
          </a:prstGeom>
          <a:solidFill>
            <a:srgbClr val="252540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1188720"/>
            <a:ext cx="685800" cy="685800"/>
          </a:xfrm>
          <a:prstGeom prst="ellipse">
            <a:avLst/>
          </a:prstGeom>
          <a:solidFill>
            <a:srgbClr val="16A085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18872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0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274320" y="2011680"/>
            <a:ext cx="1691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準備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274320" y="2468880"/>
            <a:ext cx="16916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CCCCC"/>
                </a:solidFill>
              </a:rPr>
              <a:t>Codespaces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CCCCC"/>
                </a:solidFill>
              </a:rPr>
              <a:t>Wallet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CCCCC"/>
                </a:solidFill>
              </a:rPr>
              <a:t>Gemini CLI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94360" y="3931920"/>
            <a:ext cx="1051560" cy="365760"/>
          </a:xfrm>
          <a:prstGeom prst="roundRect">
            <a:avLst>
              <a:gd name="adj" fmla="val 50000"/>
            </a:avLst>
          </a:prstGeom>
          <a:solidFill>
            <a:srgbClr val="333355"/>
          </a:solidFill>
          <a:ln/>
        </p:spPr>
      </p:sp>
      <p:sp>
        <p:nvSpPr>
          <p:cNvPr id="10" name="Text 8"/>
          <p:cNvSpPr/>
          <p:nvPr/>
        </p:nvSpPr>
        <p:spPr>
          <a:xfrm>
            <a:off x="594360" y="3931920"/>
            <a:ext cx="1051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6A085"/>
                </a:solidFill>
              </a:rPr>
              <a:t>5分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1965960" y="2468880"/>
            <a:ext cx="137160" cy="274320"/>
          </a:xfrm>
          <a:prstGeom prst="rightArrow">
            <a:avLst/>
          </a:prstGeom>
          <a:solidFill>
            <a:srgbClr val="666666"/>
          </a:solidFill>
          <a:ln/>
        </p:spPr>
      </p:sp>
      <p:sp>
        <p:nvSpPr>
          <p:cNvPr id="12" name="Shape 10"/>
          <p:cNvSpPr/>
          <p:nvPr/>
        </p:nvSpPr>
        <p:spPr>
          <a:xfrm>
            <a:off x="2057400" y="1005840"/>
            <a:ext cx="1691640" cy="3474720"/>
          </a:xfrm>
          <a:prstGeom prst="roundRect">
            <a:avLst>
              <a:gd name="adj" fmla="val 8108"/>
            </a:avLst>
          </a:prstGeom>
          <a:solidFill>
            <a:srgbClr val="252540"/>
          </a:solidFill>
          <a:ln/>
        </p:spPr>
      </p:sp>
      <p:sp>
        <p:nvSpPr>
          <p:cNvPr id="13" name="Shape 11"/>
          <p:cNvSpPr/>
          <p:nvPr/>
        </p:nvSpPr>
        <p:spPr>
          <a:xfrm>
            <a:off x="2560320" y="1188720"/>
            <a:ext cx="685800" cy="685800"/>
          </a:xfrm>
          <a:prstGeom prst="ellipse">
            <a:avLst/>
          </a:prstGeom>
          <a:solidFill>
            <a:srgbClr val="16A085"/>
          </a:solidFill>
          <a:ln/>
        </p:spPr>
      </p:sp>
      <p:sp>
        <p:nvSpPr>
          <p:cNvPr id="14" name="Text 12"/>
          <p:cNvSpPr/>
          <p:nvPr/>
        </p:nvSpPr>
        <p:spPr>
          <a:xfrm>
            <a:off x="2560320" y="118872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1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2057400" y="2011680"/>
            <a:ext cx="1691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スキル導入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2057400" y="2468880"/>
            <a:ext cx="16916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CCCCC"/>
                </a:solidFill>
              </a:rPr>
              <a:t>AIに専門知識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CCCCC"/>
                </a:solidFill>
              </a:rPr>
              <a:t>を追加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377440" y="3931920"/>
            <a:ext cx="1051560" cy="365760"/>
          </a:xfrm>
          <a:prstGeom prst="roundRect">
            <a:avLst>
              <a:gd name="adj" fmla="val 50000"/>
            </a:avLst>
          </a:prstGeom>
          <a:solidFill>
            <a:srgbClr val="333355"/>
          </a:solidFill>
          <a:ln/>
        </p:spPr>
      </p:sp>
      <p:sp>
        <p:nvSpPr>
          <p:cNvPr id="18" name="Text 16"/>
          <p:cNvSpPr/>
          <p:nvPr/>
        </p:nvSpPr>
        <p:spPr>
          <a:xfrm>
            <a:off x="2377440" y="3931920"/>
            <a:ext cx="1051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6A085"/>
                </a:solidFill>
              </a:rPr>
              <a:t>2分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749040" y="2468880"/>
            <a:ext cx="137160" cy="274320"/>
          </a:xfrm>
          <a:prstGeom prst="rightArrow">
            <a:avLst/>
          </a:prstGeom>
          <a:solidFill>
            <a:srgbClr val="666666"/>
          </a:solidFill>
          <a:ln/>
        </p:spPr>
      </p:sp>
      <p:sp>
        <p:nvSpPr>
          <p:cNvPr id="20" name="Shape 18"/>
          <p:cNvSpPr/>
          <p:nvPr/>
        </p:nvSpPr>
        <p:spPr>
          <a:xfrm>
            <a:off x="3840480" y="1005840"/>
            <a:ext cx="1691640" cy="3474720"/>
          </a:xfrm>
          <a:prstGeom prst="roundRect">
            <a:avLst>
              <a:gd name="adj" fmla="val 8108"/>
            </a:avLst>
          </a:prstGeom>
          <a:solidFill>
            <a:srgbClr val="252540"/>
          </a:solidFill>
          <a:ln/>
        </p:spPr>
      </p:sp>
      <p:sp>
        <p:nvSpPr>
          <p:cNvPr id="21" name="Shape 19"/>
          <p:cNvSpPr/>
          <p:nvPr/>
        </p:nvSpPr>
        <p:spPr>
          <a:xfrm>
            <a:off x="4343400" y="1188720"/>
            <a:ext cx="685800" cy="685800"/>
          </a:xfrm>
          <a:prstGeom prst="ellipse">
            <a:avLst/>
          </a:prstGeom>
          <a:solidFill>
            <a:srgbClr val="E84142"/>
          </a:solidFill>
          <a:ln/>
        </p:spPr>
      </p:sp>
      <p:sp>
        <p:nvSpPr>
          <p:cNvPr id="22" name="Text 20"/>
          <p:cNvSpPr/>
          <p:nvPr/>
        </p:nvSpPr>
        <p:spPr>
          <a:xfrm>
            <a:off x="4343400" y="118872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2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3840480" y="2011680"/>
            <a:ext cx="1691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コントラクト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3840480" y="2468880"/>
            <a:ext cx="16916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CCCCC"/>
                </a:solidFill>
              </a:rPr>
              <a:t>AIが Solidity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CCCCC"/>
                </a:solidFill>
              </a:rPr>
              <a:t>コードを生成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160520" y="3931920"/>
            <a:ext cx="1051560" cy="365760"/>
          </a:xfrm>
          <a:prstGeom prst="roundRect">
            <a:avLst>
              <a:gd name="adj" fmla="val 50000"/>
            </a:avLst>
          </a:prstGeom>
          <a:solidFill>
            <a:srgbClr val="333355"/>
          </a:solidFill>
          <a:ln/>
        </p:spPr>
      </p:sp>
      <p:sp>
        <p:nvSpPr>
          <p:cNvPr id="26" name="Text 24"/>
          <p:cNvSpPr/>
          <p:nvPr/>
        </p:nvSpPr>
        <p:spPr>
          <a:xfrm>
            <a:off x="4160520" y="3931920"/>
            <a:ext cx="1051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6A085"/>
                </a:solidFill>
              </a:rPr>
              <a:t>5分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532120" y="2468880"/>
            <a:ext cx="137160" cy="274320"/>
          </a:xfrm>
          <a:prstGeom prst="rightArrow">
            <a:avLst/>
          </a:prstGeom>
          <a:solidFill>
            <a:srgbClr val="666666"/>
          </a:solidFill>
          <a:ln/>
        </p:spPr>
      </p:sp>
      <p:sp>
        <p:nvSpPr>
          <p:cNvPr id="28" name="Shape 26"/>
          <p:cNvSpPr/>
          <p:nvPr/>
        </p:nvSpPr>
        <p:spPr>
          <a:xfrm>
            <a:off x="5623560" y="1005840"/>
            <a:ext cx="1691640" cy="3474720"/>
          </a:xfrm>
          <a:prstGeom prst="roundRect">
            <a:avLst>
              <a:gd name="adj" fmla="val 8108"/>
            </a:avLst>
          </a:prstGeom>
          <a:solidFill>
            <a:srgbClr val="252540"/>
          </a:solidFill>
          <a:ln/>
        </p:spPr>
      </p:sp>
      <p:sp>
        <p:nvSpPr>
          <p:cNvPr id="29" name="Shape 27"/>
          <p:cNvSpPr/>
          <p:nvPr/>
        </p:nvSpPr>
        <p:spPr>
          <a:xfrm>
            <a:off x="6126480" y="1188720"/>
            <a:ext cx="685800" cy="685800"/>
          </a:xfrm>
          <a:prstGeom prst="ellipse">
            <a:avLst/>
          </a:prstGeom>
          <a:solidFill>
            <a:srgbClr val="E84142"/>
          </a:solidFill>
          <a:ln/>
        </p:spPr>
      </p:sp>
      <p:sp>
        <p:nvSpPr>
          <p:cNvPr id="30" name="Text 28"/>
          <p:cNvSpPr/>
          <p:nvPr/>
        </p:nvSpPr>
        <p:spPr>
          <a:xfrm>
            <a:off x="6126480" y="118872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3</a:t>
            </a:r>
            <a:endParaRPr lang="en-US" sz="2400" dirty="0"/>
          </a:p>
        </p:txBody>
      </p:sp>
      <p:sp>
        <p:nvSpPr>
          <p:cNvPr id="31" name="Text 29"/>
          <p:cNvSpPr/>
          <p:nvPr/>
        </p:nvSpPr>
        <p:spPr>
          <a:xfrm>
            <a:off x="5623560" y="2011680"/>
            <a:ext cx="1691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デプロイ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5623560" y="2468880"/>
            <a:ext cx="16916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CCCCC"/>
                </a:solidFill>
              </a:rPr>
              <a:t>Fuji テストネット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CCCCC"/>
                </a:solidFill>
              </a:rPr>
              <a:t>に公開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5943600" y="3931920"/>
            <a:ext cx="1051560" cy="365760"/>
          </a:xfrm>
          <a:prstGeom prst="roundRect">
            <a:avLst>
              <a:gd name="adj" fmla="val 50000"/>
            </a:avLst>
          </a:prstGeom>
          <a:solidFill>
            <a:srgbClr val="333355"/>
          </a:solidFill>
          <a:ln/>
        </p:spPr>
      </p:sp>
      <p:sp>
        <p:nvSpPr>
          <p:cNvPr id="34" name="Text 32"/>
          <p:cNvSpPr/>
          <p:nvPr/>
        </p:nvSpPr>
        <p:spPr>
          <a:xfrm>
            <a:off x="5943600" y="3931920"/>
            <a:ext cx="1051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6A085"/>
                </a:solidFill>
              </a:rPr>
              <a:t>5分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7315200" y="2468880"/>
            <a:ext cx="137160" cy="274320"/>
          </a:xfrm>
          <a:prstGeom prst="rightArrow">
            <a:avLst/>
          </a:prstGeom>
          <a:solidFill>
            <a:srgbClr val="666666"/>
          </a:solidFill>
          <a:ln/>
        </p:spPr>
      </p:sp>
      <p:sp>
        <p:nvSpPr>
          <p:cNvPr id="36" name="Shape 34"/>
          <p:cNvSpPr/>
          <p:nvPr/>
        </p:nvSpPr>
        <p:spPr>
          <a:xfrm>
            <a:off x="7406640" y="1005840"/>
            <a:ext cx="1691640" cy="3474720"/>
          </a:xfrm>
          <a:prstGeom prst="roundRect">
            <a:avLst>
              <a:gd name="adj" fmla="val 8108"/>
            </a:avLst>
          </a:prstGeom>
          <a:solidFill>
            <a:srgbClr val="252540"/>
          </a:solidFill>
          <a:ln/>
        </p:spPr>
      </p:sp>
      <p:sp>
        <p:nvSpPr>
          <p:cNvPr id="37" name="Shape 35"/>
          <p:cNvSpPr/>
          <p:nvPr/>
        </p:nvSpPr>
        <p:spPr>
          <a:xfrm>
            <a:off x="7909560" y="1188720"/>
            <a:ext cx="685800" cy="685800"/>
          </a:xfrm>
          <a:prstGeom prst="ellipse">
            <a:avLst/>
          </a:prstGeom>
          <a:solidFill>
            <a:srgbClr val="F1C40F"/>
          </a:solidFill>
          <a:ln/>
        </p:spPr>
      </p:sp>
      <p:sp>
        <p:nvSpPr>
          <p:cNvPr id="38" name="Text 36"/>
          <p:cNvSpPr/>
          <p:nvPr/>
        </p:nvSpPr>
        <p:spPr>
          <a:xfrm>
            <a:off x="7909560" y="118872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4</a:t>
            </a:r>
            <a:endParaRPr lang="en-US" sz="2400" dirty="0"/>
          </a:p>
        </p:txBody>
      </p:sp>
      <p:sp>
        <p:nvSpPr>
          <p:cNvPr id="39" name="Text 37"/>
          <p:cNvSpPr/>
          <p:nvPr/>
        </p:nvSpPr>
        <p:spPr>
          <a:xfrm>
            <a:off x="7406640" y="2011680"/>
            <a:ext cx="1691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アプリ作成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7406640" y="2468880"/>
            <a:ext cx="16916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CCCCC"/>
                </a:solidFill>
              </a:rPr>
              <a:t>React ゲーム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CCCCC"/>
                </a:solidFill>
              </a:rPr>
              <a:t>をAIが生成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7726680" y="3931920"/>
            <a:ext cx="1051560" cy="365760"/>
          </a:xfrm>
          <a:prstGeom prst="roundRect">
            <a:avLst>
              <a:gd name="adj" fmla="val 50000"/>
            </a:avLst>
          </a:prstGeom>
          <a:solidFill>
            <a:srgbClr val="333355"/>
          </a:solidFill>
          <a:ln/>
        </p:spPr>
      </p:sp>
      <p:sp>
        <p:nvSpPr>
          <p:cNvPr id="42" name="Text 40"/>
          <p:cNvSpPr/>
          <p:nvPr/>
        </p:nvSpPr>
        <p:spPr>
          <a:xfrm>
            <a:off x="7726680" y="3931920"/>
            <a:ext cx="1051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6A085"/>
                </a:solidFill>
              </a:rPr>
              <a:t>10分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lide 6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6A085"/>
          </a:solidFill>
          <a:ln/>
        </p:spPr>
      </p:sp>
      <p:sp>
        <p:nvSpPr>
          <p:cNvPr id="3" name="Shape 1"/>
          <p:cNvSpPr/>
          <p:nvPr/>
        </p:nvSpPr>
        <p:spPr>
          <a:xfrm>
            <a:off x="365760" y="164592"/>
            <a:ext cx="1097280" cy="411480"/>
          </a:xfrm>
          <a:prstGeom prst="roundRect">
            <a:avLst>
              <a:gd name="adj" fmla="val 48889"/>
            </a:avLst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64592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6A085"/>
                </a:solidFill>
              </a:rPr>
              <a:t>Phase 0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645920" y="18288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GitHub Codespaces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65760" y="914400"/>
            <a:ext cx="8412480" cy="1097280"/>
          </a:xfrm>
          <a:prstGeom prst="roundRect">
            <a:avLst>
              <a:gd name="adj" fmla="val 8333"/>
            </a:avLst>
          </a:prstGeom>
          <a:solidFill>
            <a:srgbClr val="2D4A3E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9601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1C40F"/>
                </a:solidFill>
              </a:rPr>
              <a:t>💡 Codespaces とは？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12344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GitHub が提供するクラウド開発環境。ブラウザ上で VS Code が動作し、ローカル環境構築が不要！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16002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085"/>
                </a:solidFill>
                <a:hlinkClick r:id="rId3"/>
              </a:rPr>
              <a:t>🔗 https://github.com/CobaltSato/avalanche-build-games-tool-kit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65760" y="2148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A085"/>
                </a:solidFill>
              </a:rPr>
              <a:t>手順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57200" y="2606040"/>
            <a:ext cx="365760" cy="365760"/>
          </a:xfrm>
          <a:prstGeom prst="ellipse">
            <a:avLst/>
          </a:prstGeom>
          <a:solidFill>
            <a:srgbClr val="E84142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26060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914400" y="260604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</a:rPr>
              <a:t>上記 URL にアクセス → 「Code」ボタンをクリック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3108960"/>
            <a:ext cx="365760" cy="365760"/>
          </a:xfrm>
          <a:prstGeom prst="ellipse">
            <a:avLst/>
          </a:prstGeom>
          <a:solidFill>
            <a:srgbClr val="E84142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31089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914400" y="310896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</a:rPr>
              <a:t>「Codespaces」タブを選択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3611880"/>
            <a:ext cx="365760" cy="365760"/>
          </a:xfrm>
          <a:prstGeom prst="ellipse">
            <a:avLst/>
          </a:prstGeom>
          <a:solidFill>
            <a:srgbClr val="E84142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" y="36118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914400" y="361188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</a:rPr>
              <a:t>「Create codespace on main」をクリック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57200" y="4114800"/>
            <a:ext cx="365760" cy="365760"/>
          </a:xfrm>
          <a:prstGeom prst="ellipse">
            <a:avLst/>
          </a:prstGeom>
          <a:solidFill>
            <a:srgbClr val="E84142"/>
          </a:solidFill>
          <a:ln/>
        </p:spPr>
      </p:sp>
      <p:sp>
        <p:nvSpPr>
          <p:cNvPr id="21" name="Text 19"/>
          <p:cNvSpPr/>
          <p:nvPr/>
        </p:nvSpPr>
        <p:spPr>
          <a:xfrm>
            <a:off x="457200" y="41148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914400" y="411480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</a:rPr>
              <a:t>ブラウザで VS Code が起動するまで待つ（1-2分）</a:t>
            </a:r>
            <a:endParaRPr lang="en-US" sz="1200" dirty="0"/>
          </a:p>
        </p:txBody>
      </p:sp>
      <p:sp>
        <p:nvSpPr>
          <p:cNvPr id="23" name="Video Link"/>
          <p:cNvSpPr/>
          <p:nvPr/>
        </p:nvSpPr>
        <p:spPr>
          <a:xfrm>
            <a:off x="7620000" y="4572000"/>
            <a:ext cx="1371600" cy="365760"/>
          </a:xfrm>
          <a:prstGeom prst="roundRect">
            <a:avLst>
              <a:gd name="adj" fmla="val 16667"/>
            </a:avLst>
          </a:prstGeom>
          <a:solidFill>
            <a:srgbClr val="E84142"/>
          </a:solidFill>
          <a:ln w="12700">
            <a:noFill/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ja-JP" sz="1200" b="1" dirty="0">
                <a:solidFill>
                  <a:srgbClr val="FFFFFF"/>
                </a:solidFill>
                <a:hlinkClick r:id="rId4"/>
              </a:rPr>
              <a:t>🎬 動画を見る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lide 7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6A085"/>
          </a:solidFill>
          <a:ln/>
        </p:spPr>
      </p:sp>
      <p:sp>
        <p:nvSpPr>
          <p:cNvPr id="3" name="Shape 1"/>
          <p:cNvSpPr/>
          <p:nvPr/>
        </p:nvSpPr>
        <p:spPr>
          <a:xfrm>
            <a:off x="365760" y="164592"/>
            <a:ext cx="1097280" cy="411480"/>
          </a:xfrm>
          <a:prstGeom prst="roundRect">
            <a:avLst>
              <a:gd name="adj" fmla="val 48889"/>
            </a:avLst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64592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6A085"/>
                </a:solidFill>
              </a:rPr>
              <a:t>Phase 0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645920" y="18288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Core Wallet インストール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65760" y="914400"/>
            <a:ext cx="8412480" cy="1005840"/>
          </a:xfrm>
          <a:prstGeom prst="roundRect">
            <a:avLst>
              <a:gd name="adj" fmla="val 9091"/>
            </a:avLst>
          </a:prstGeom>
          <a:solidFill>
            <a:srgbClr val="2D4A3E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0058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1C40F"/>
                </a:solidFill>
              </a:rPr>
              <a:t>💡 Core Wallet とは？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1325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Avalanche 公式ウォレット。MetaMask より Avalanche に最適化。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16002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</a:rPr>
              <a:t>C-Chain（EVM互換）と X-Chain/P-Chain の両方に対応！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65760" y="210312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A085"/>
                </a:solidFill>
              </a:rPr>
              <a:t>インストール手順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65760" y="2468880"/>
            <a:ext cx="4114800" cy="1645920"/>
          </a:xfrm>
          <a:prstGeom prst="roundRect">
            <a:avLst>
              <a:gd name="adj" fmla="val 5556"/>
            </a:avLst>
          </a:prstGeom>
          <a:solidFill>
            <a:srgbClr val="252540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256032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</a:rPr>
              <a:t>1. Chrome ブラウザを開く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7200" y="2852928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</a:rPr>
              <a:t>2. core.app/download にアクセス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3145536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</a:rPr>
              <a:t>3. 「Chrome」を選択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57200" y="3438144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</a:rPr>
              <a:t>4. 拡張機能をインストール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7200" y="3730752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</a:rPr>
              <a:t>5. ウォレットを作成/復元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663440" y="210312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A085"/>
                </a:solidFill>
              </a:rPr>
              <a:t>MetaMask じゃダメ？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663440" y="2468880"/>
            <a:ext cx="4114800" cy="1645920"/>
          </a:xfrm>
          <a:prstGeom prst="roundRect">
            <a:avLst>
              <a:gd name="adj" fmla="val 5556"/>
            </a:avLst>
          </a:prstGeom>
          <a:solidFill>
            <a:srgbClr val="252540"/>
          </a:solidFill>
          <a:ln/>
        </p:spPr>
      </p:sp>
      <p:sp>
        <p:nvSpPr>
          <p:cNvPr id="19" name="Text 17"/>
          <p:cNvSpPr/>
          <p:nvPr/>
        </p:nvSpPr>
        <p:spPr>
          <a:xfrm>
            <a:off x="4754880" y="2560320"/>
            <a:ext cx="3931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</a:rPr>
              <a:t>MetaMask でも OK！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</a:rPr>
              <a:t>でも Core Wallet は：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754880" y="3200400"/>
            <a:ext cx="3931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6A085"/>
                </a:solidFill>
              </a:rPr>
              <a:t>✓ Avalanche 専用設計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6A085"/>
                </a:solidFill>
              </a:rPr>
              <a:t>✓ ネットワーク設定不要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6A085"/>
                </a:solidFill>
              </a:rPr>
              <a:t>✓ Subnet 対応</a:t>
            </a:r>
            <a:endParaRPr lang="en-US" sz="1100" dirty="0"/>
          </a:p>
        </p:txBody>
      </p:sp>
      <p:sp>
        <p:nvSpPr>
          <p:cNvPr id="21" name="Video Link"/>
          <p:cNvSpPr/>
          <p:nvPr/>
        </p:nvSpPr>
        <p:spPr>
          <a:xfrm>
            <a:off x="7620000" y="4572000"/>
            <a:ext cx="1371600" cy="365760"/>
          </a:xfrm>
          <a:prstGeom prst="roundRect">
            <a:avLst>
              <a:gd name="adj" fmla="val 16667"/>
            </a:avLst>
          </a:prstGeom>
          <a:solidFill>
            <a:srgbClr val="E84142"/>
          </a:solidFill>
          <a:ln w="12700">
            <a:noFill/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ja-JP" sz="1200" b="1" dirty="0">
                <a:solidFill>
                  <a:srgbClr val="FFFFFF"/>
                </a:solidFill>
                <a:hlinkClick r:id="rId3"/>
              </a:rPr>
              <a:t>🎬 動画を見る</a:t>
            </a:r>
            <a:endParaRPr lang="en-US" sz="1200" dirty="0"/>
          </a:p>
        </p:txBody>
      </p:sp>
      <p:sp>
        <p:nvSpPr>
          <p:cNvPr id="22" name="Link Button"/>
          <p:cNvSpPr/>
          <p:nvPr/>
        </p:nvSpPr>
        <p:spPr>
          <a:xfrm>
            <a:off x="274320" y="4480560"/>
            <a:ext cx="1828800" cy="365760"/>
          </a:xfrm>
          <a:prstGeom prst="roundRect">
            <a:avLst>
              <a:gd name="adj" fmla="val 16667"/>
            </a:avLst>
          </a:prstGeom>
          <a:solidFill>
            <a:srgbClr val="16A085"/>
          </a:solidFill>
          <a:ln w="12700">
            <a:noFill/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ja-JP" sz="1000" b="1" dirty="0">
                <a:solidFill>
                  <a:srgbClr val="FFFFFF"/>
                </a:solidFill>
                <a:hlinkClick r:id="rId4"/>
              </a:rPr>
              <a:t>📋 AVAX取得シート</a:t>
            </a:r>
            <a:endParaRPr lang="en-US" sz="1000" dirty="0"/>
          </a:p>
        </p:txBody>
      </p:sp>
      <p:sp>
        <p:nvSpPr>
          <p:cNvPr id="23" name="Core Download Link"/>
          <p:cNvSpPr/>
          <p:nvPr/>
        </p:nvSpPr>
        <p:spPr>
          <a:xfrm>
            <a:off x="2286000" y="4480560"/>
            <a:ext cx="1828800" cy="365760"/>
          </a:xfrm>
          <a:prstGeom prst="roundRect">
            <a:avLst>
              <a:gd name="adj" fmla="val 16667"/>
            </a:avLst>
          </a:prstGeom>
          <a:solidFill>
            <a:srgbClr val="E84142"/>
          </a:solidFill>
          <a:ln w="12700">
            <a:noFill/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ja-JP" sz="1000" b="1" dirty="0">
                <a:solidFill>
                  <a:srgbClr val="FFFFFF"/>
                </a:solidFill>
                <a:hlinkClick r:id="rId5"/>
              </a:rPr>
              <a:t>⬇️ Core Wallet DL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lide 8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6A085"/>
          </a:solidFill>
          <a:ln/>
        </p:spPr>
      </p:sp>
      <p:sp>
        <p:nvSpPr>
          <p:cNvPr id="3" name="Shape 1"/>
          <p:cNvSpPr/>
          <p:nvPr/>
        </p:nvSpPr>
        <p:spPr>
          <a:xfrm>
            <a:off x="365760" y="164592"/>
            <a:ext cx="1097280" cy="411480"/>
          </a:xfrm>
          <a:prstGeom prst="roundRect">
            <a:avLst>
              <a:gd name="adj" fmla="val 48889"/>
            </a:avLst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64592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6A085"/>
                </a:solidFill>
              </a:rPr>
              <a:t>Phase 0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645920" y="18288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Gemini CLI 認証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365760" y="9144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認証方法は3つ（今回は Google OAuth を使用）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1325880"/>
            <a:ext cx="8412480" cy="502920"/>
          </a:xfrm>
          <a:prstGeom prst="roundRect">
            <a:avLst>
              <a:gd name="adj" fmla="val 14545"/>
            </a:avLst>
          </a:prstGeom>
          <a:solidFill>
            <a:srgbClr val="E84142"/>
          </a:solidFill>
          <a:ln/>
        </p:spPr>
      </p:sp>
      <p:sp>
        <p:nvSpPr>
          <p:cNvPr id="8" name="Shape 6"/>
          <p:cNvSpPr/>
          <p:nvPr/>
        </p:nvSpPr>
        <p:spPr>
          <a:xfrm>
            <a:off x="7772400" y="1399032"/>
            <a:ext cx="914400" cy="365760"/>
          </a:xfrm>
          <a:prstGeom prst="roundRect">
            <a:avLst>
              <a:gd name="adj" fmla="val 50000"/>
            </a:avLst>
          </a:prstGeom>
          <a:solidFill>
            <a:srgbClr val="F1C40F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0" y="1399032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2E"/>
                </a:solidFill>
              </a:rPr>
              <a:t>推奨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57200" y="132588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Google OAuth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286000" y="132588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無料枠あり、最も簡単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572000" y="1325880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gemini → "Login with Google"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365760" y="1920240"/>
            <a:ext cx="8412480" cy="502920"/>
          </a:xfrm>
          <a:prstGeom prst="roundRect">
            <a:avLst>
              <a:gd name="adj" fmla="val 14545"/>
            </a:avLst>
          </a:prstGeom>
          <a:solidFill>
            <a:srgbClr val="252540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192024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Gemini API Key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286000" y="192024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</a:rPr>
              <a:t>モデル選択可能、有料枠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0" y="1920240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export GEMINI_API_KEY="..."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65760" y="2514600"/>
            <a:ext cx="8412480" cy="502920"/>
          </a:xfrm>
          <a:prstGeom prst="roundRect">
            <a:avLst>
              <a:gd name="adj" fmla="val 14545"/>
            </a:avLst>
          </a:prstGeom>
          <a:solidFill>
            <a:srgbClr val="252540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" y="251460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Vertex AI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286000" y="251460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</a:rPr>
              <a:t>エンタープライズ向け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572000" y="2514600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export GOOGLE_GENAI_USE_VERTEXAI=true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365760" y="32004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A085"/>
                </a:solidFill>
              </a:rPr>
              <a:t>Google OAuth の手順（公式ドキュメントより）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365760" y="3566160"/>
            <a:ext cx="8412480" cy="1280160"/>
          </a:xfrm>
          <a:prstGeom prst="roundRect">
            <a:avLst>
              <a:gd name="adj" fmla="val 7143"/>
            </a:avLst>
          </a:prstGeom>
          <a:solidFill>
            <a:srgbClr val="0D0D1A"/>
          </a:solidFill>
          <a:ln/>
        </p:spPr>
      </p:sp>
      <p:sp>
        <p:nvSpPr>
          <p:cNvPr id="23" name="Text 21"/>
          <p:cNvSpPr/>
          <p:nvPr/>
        </p:nvSpPr>
        <p:spPr>
          <a:xfrm>
            <a:off x="457200" y="3611880"/>
            <a:ext cx="8229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gemini                           # ターミナルで実行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8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1. "Login with Google" を選択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8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2. ブラウザで Google アカウント認証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8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3. 認証完了 → CLI に自動で戻る</a:t>
            </a:r>
            <a:endParaRPr lang="en-US" sz="900" dirty="0"/>
          </a:p>
        </p:txBody>
      </p:sp>
      <p:sp>
        <p:nvSpPr>
          <p:cNvPr id="24" name="Video Link"/>
          <p:cNvSpPr/>
          <p:nvPr/>
        </p:nvSpPr>
        <p:spPr>
          <a:xfrm>
            <a:off x="7620000" y="4572000"/>
            <a:ext cx="1371600" cy="365760"/>
          </a:xfrm>
          <a:prstGeom prst="roundRect">
            <a:avLst>
              <a:gd name="adj" fmla="val 16667"/>
            </a:avLst>
          </a:prstGeom>
          <a:solidFill>
            <a:srgbClr val="E84142"/>
          </a:solidFill>
          <a:ln w="12700">
            <a:noFill/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ja-JP" sz="1200" b="1" dirty="0">
                <a:solidFill>
                  <a:srgbClr val="FFFFFF"/>
                </a:solidFill>
                <a:hlinkClick r:id="rId3"/>
              </a:rPr>
              <a:t>🎬 動画を見る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6A085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Gemini CLI 基本操作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9144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A085"/>
                </a:solidFill>
              </a:rPr>
              <a:t>起動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65760" y="1234440"/>
            <a:ext cx="4023360" cy="640080"/>
          </a:xfrm>
          <a:prstGeom prst="roundRect">
            <a:avLst>
              <a:gd name="adj" fmla="val 11111"/>
            </a:avLst>
          </a:prstGeom>
          <a:solidFill>
            <a:srgbClr val="252540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28016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8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gemini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155448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</a:rPr>
              <a:t>対話モードで起動（初回は認証が必要）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71999" y="1234440"/>
            <a:ext cx="4206240" cy="640080"/>
          </a:xfrm>
          <a:prstGeom prst="roundRect">
            <a:avLst>
              <a:gd name="adj" fmla="val 11111"/>
            </a:avLst>
          </a:prstGeom>
          <a:solidFill>
            <a:srgbClr val="252540"/>
          </a:solidFill>
          <a:ln/>
        </p:spPr>
      </p:sp>
      <p:sp>
        <p:nvSpPr>
          <p:cNvPr id="9" name="Text 7"/>
          <p:cNvSpPr/>
          <p:nvPr/>
        </p:nvSpPr>
        <p:spPr>
          <a:xfrm>
            <a:off x="4663439" y="128016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8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gemini --resume latest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39" y="155448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</a:rPr>
              <a:t>前回のセッションを再開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65760" y="20116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A7756"/>
                </a:solidFill>
              </a:rPr>
              <a:t>基本操作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365760" y="2331720"/>
            <a:ext cx="2651760" cy="822960"/>
          </a:xfrm>
          <a:prstGeom prst="roundRect">
            <a:avLst>
              <a:gd name="adj" fmla="val 9091"/>
            </a:avLst>
          </a:prstGeom>
          <a:solidFill>
            <a:srgbClr val="252540"/>
          </a:solidFill>
          <a:ln/>
        </p:spPr>
      </p:sp>
      <p:sp>
        <p:nvSpPr>
          <p:cNvPr id="13" name="Text 11"/>
          <p:cNvSpPr/>
          <p:nvPr/>
        </p:nvSpPr>
        <p:spPr>
          <a:xfrm>
            <a:off x="365760" y="237744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E84142"/>
                </a:solidFill>
              </a:rPr>
              <a:t>Ctrl + C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365760" y="274320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セッションを終了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200400" y="2331720"/>
            <a:ext cx="2651760" cy="822960"/>
          </a:xfrm>
          <a:prstGeom prst="roundRect">
            <a:avLst>
              <a:gd name="adj" fmla="val 9091"/>
            </a:avLst>
          </a:prstGeom>
          <a:solidFill>
            <a:srgbClr val="252540"/>
          </a:solidFill>
          <a:ln/>
        </p:spPr>
      </p:sp>
      <p:sp>
        <p:nvSpPr>
          <p:cNvPr id="16" name="Text 14"/>
          <p:cNvSpPr/>
          <p:nvPr/>
        </p:nvSpPr>
        <p:spPr>
          <a:xfrm>
            <a:off x="3200400" y="237744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88FF88"/>
                </a:solidFill>
                <a:latin typeface="Courier New" pitchFamily="34" charset="0"/>
              </a:rPr>
              <a:t>/help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3200400" y="274320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ヘルプを表示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035040" y="2331720"/>
            <a:ext cx="2651760" cy="822960"/>
          </a:xfrm>
          <a:prstGeom prst="roundRect">
            <a:avLst>
              <a:gd name="adj" fmla="val 9091"/>
            </a:avLst>
          </a:prstGeom>
          <a:solidFill>
            <a:srgbClr val="252540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237744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88FF88"/>
                </a:solidFill>
                <a:latin typeface="Courier New" pitchFamily="34" charset="0"/>
              </a:rPr>
              <a:t>Enter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6035040" y="274320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メッセージを送信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65760" y="32918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B59B6"/>
                </a:solidFill>
              </a:rPr>
              <a:t>ツール実行の確認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365760" y="3611880"/>
            <a:ext cx="8412480" cy="914400"/>
          </a:xfrm>
          <a:prstGeom prst="roundRect">
            <a:avLst>
              <a:gd name="adj" fmla="val 8000"/>
            </a:avLst>
          </a:prstGeom>
          <a:solidFill>
            <a:srgbClr val="252540"/>
          </a:solidFill>
          <a:ln/>
        </p:spPr>
      </p:sp>
      <p:sp>
        <p:nvSpPr>
          <p:cNvPr id="23" name="Text 21"/>
          <p:cNvSpPr/>
          <p:nvPr/>
        </p:nvSpPr>
        <p:spPr>
          <a:xfrm>
            <a:off x="457200" y="3703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Gemini がファイル編集やコマンド実行をする前に確認が表示されます: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57200" y="402336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A085"/>
                </a:solidFill>
              </a:rPr>
              <a:t>y</a:t>
            </a:r>
            <a:r>
              <a:rPr lang="en-US" sz="1100" dirty="0">
                <a:solidFill>
                  <a:srgbClr val="CCCCCC"/>
                </a:solidFill>
              </a:rPr>
              <a:t> = 許可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200400" y="402336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4142"/>
                </a:solidFill>
              </a:rPr>
              <a:t>n</a:t>
            </a:r>
            <a:r>
              <a:rPr lang="en-US" sz="1100" dirty="0">
                <a:solidFill>
                  <a:srgbClr val="CCCCCC"/>
                </a:solidFill>
              </a:rPr>
              <a:t> = 拒否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943600" y="402336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1C40F"/>
                </a:solidFill>
              </a:rPr>
              <a:t>a</a:t>
            </a:r>
            <a:r>
              <a:rPr lang="en-US" sz="1100" dirty="0">
                <a:solidFill>
                  <a:srgbClr val="CCCCCC"/>
                </a:solidFill>
              </a:rPr>
              <a:t> = 今後すべて許可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65760" y="4663440"/>
            <a:ext cx="8412480" cy="365760"/>
          </a:xfrm>
          <a:prstGeom prst="roundRect">
            <a:avLst>
              <a:gd name="adj" fmla="val 25000"/>
            </a:avLst>
          </a:prstGeom>
          <a:solidFill>
            <a:srgbClr val="2D4A3E"/>
          </a:solidFill>
          <a:ln/>
        </p:spPr>
      </p:sp>
      <p:sp>
        <p:nvSpPr>
          <p:cNvPr id="28" name="Text 26"/>
          <p:cNvSpPr/>
          <p:nvPr/>
        </p:nvSpPr>
        <p:spPr>
          <a:xfrm>
            <a:off x="457200" y="47091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💡 困ったら日本語で質問するだけ！ Gemini が適切なツールを選んで実行します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3498D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スラッシュコマンド一覧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868680"/>
            <a:ext cx="8412480" cy="457200"/>
          </a:xfrm>
          <a:prstGeom prst="roundRect">
            <a:avLst>
              <a:gd name="adj" fmla="val 16000"/>
            </a:avLst>
          </a:prstGeom>
          <a:solidFill>
            <a:srgbClr val="2D4A3E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💡 対話モード内で / から始まるコマンドで様々な操作が可能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141732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A085"/>
                </a:solidFill>
              </a:rPr>
              <a:t>基本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1737360"/>
            <a:ext cx="2743200" cy="3017520"/>
          </a:xfrm>
          <a:prstGeom prst="roundRect">
            <a:avLst>
              <a:gd name="adj" fmla="val 3333"/>
            </a:avLst>
          </a:prstGeom>
          <a:solidFill>
            <a:srgbClr val="252540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82880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/help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57200" y="2029968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ヘルプ表示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57200" y="228600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/tools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57200" y="2487168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利用可能ツール一覧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57200" y="274320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/model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57200" y="2944368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モデル選択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57200" y="320040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/settings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57200" y="3401568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設定エディタ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57200" y="365760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/theme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57200" y="3858768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テーマ変更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411480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/clear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57200" y="4315968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画面クリア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291840" y="141732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A085"/>
                </a:solidFill>
              </a:rPr>
              <a:t>セッション管理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291840" y="1737360"/>
            <a:ext cx="2743200" cy="3017520"/>
          </a:xfrm>
          <a:prstGeom prst="roundRect">
            <a:avLst>
              <a:gd name="adj" fmla="val 3333"/>
            </a:avLst>
          </a:prstGeom>
          <a:solidFill>
            <a:srgbClr val="252540"/>
          </a:solidFill>
          <a:ln/>
        </p:spPr>
      </p:sp>
      <p:sp>
        <p:nvSpPr>
          <p:cNvPr id="22" name="Text 20"/>
          <p:cNvSpPr/>
          <p:nvPr/>
        </p:nvSpPr>
        <p:spPr>
          <a:xfrm>
            <a:off x="3383280" y="182880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/resume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3383280" y="2029968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セッション再開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3383280" y="228600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/chat save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383280" y="2487168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保存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383280" y="274320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/chat resume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3383280" y="2944368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復元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3383280" y="320040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/chat share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3383280" y="3401568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エクスポート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3383280" y="365760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/compress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3383280" y="3858768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トークン節約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3383280" y="411480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/rewind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3383280" y="4315968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巻き戻し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6217920" y="141732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A085"/>
                </a:solidFill>
              </a:rPr>
              <a:t>スキル・拡張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6217920" y="1737360"/>
            <a:ext cx="2743200" cy="3017520"/>
          </a:xfrm>
          <a:prstGeom prst="roundRect">
            <a:avLst>
              <a:gd name="adj" fmla="val 3333"/>
            </a:avLst>
          </a:prstGeom>
          <a:solidFill>
            <a:srgbClr val="252540"/>
          </a:solidFill>
          <a:ln/>
        </p:spPr>
      </p:sp>
      <p:sp>
        <p:nvSpPr>
          <p:cNvPr id="36" name="Text 34"/>
          <p:cNvSpPr/>
          <p:nvPr/>
        </p:nvSpPr>
        <p:spPr>
          <a:xfrm>
            <a:off x="6309360" y="182880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/skills list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6309360" y="2029968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スキル一覧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6309360" y="228600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/skills reload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6309360" y="2487168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再読み込み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6309360" y="274320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/memory show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6309360" y="2944368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コンテキスト表示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6309360" y="320040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/mcp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6309360" y="3401568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MCP サーバー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6309360" y="365760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/extensions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6309360" y="3858768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拡張機能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6309360" y="411480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/restore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6309360" y="4315968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ファイル復元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3498D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GEMINI.md コンテキストファイル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8412480" cy="640080"/>
          </a:xfrm>
          <a:prstGeom prst="roundRect">
            <a:avLst>
              <a:gd name="adj" fmla="val 14286"/>
            </a:avLst>
          </a:prstGeom>
          <a:solidFill>
            <a:srgbClr val="2D4A3E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00584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1C40F"/>
                </a:solidFill>
              </a:rPr>
              <a:t>💡 プロジェクト固有の指示を AI に伝える仕組み（Claude の CLAUDE.md と同様）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128016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コーディングスタイル、API ガイドライン、依存関係ルールなどを設定可能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65760" y="169164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A085"/>
                </a:solidFill>
              </a:rPr>
              <a:t>読み込み優先順位（階層構造）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2057400"/>
            <a:ext cx="4114800" cy="2286000"/>
          </a:xfrm>
          <a:prstGeom prst="roundRect">
            <a:avLst>
              <a:gd name="adj" fmla="val 4000"/>
            </a:avLst>
          </a:prstGeom>
          <a:solidFill>
            <a:srgbClr val="252540"/>
          </a:solidFill>
          <a:ln/>
        </p:spPr>
      </p:sp>
      <p:sp>
        <p:nvSpPr>
          <p:cNvPr id="9" name="Shape 7"/>
          <p:cNvSpPr/>
          <p:nvPr/>
        </p:nvSpPr>
        <p:spPr>
          <a:xfrm>
            <a:off x="457200" y="2194560"/>
            <a:ext cx="320040" cy="320040"/>
          </a:xfrm>
          <a:prstGeom prst="ellipse">
            <a:avLst/>
          </a:prstGeom>
          <a:solidFill>
            <a:srgbClr val="E84142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219456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68680" y="2194560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~/.gemini/GEMINI.md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868680" y="2450592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グローバル（全プロジェクト共通）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57200" y="2880360"/>
            <a:ext cx="320040" cy="320040"/>
          </a:xfrm>
          <a:prstGeom prst="ellipse">
            <a:avLst/>
          </a:prstGeom>
          <a:solidFill>
            <a:srgbClr val="E84142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288036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68680" y="2880360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.gemini/GEMINI.md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868680" y="3136392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プロジェクトルート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57200" y="3566160"/>
            <a:ext cx="320040" cy="320040"/>
          </a:xfrm>
          <a:prstGeom prst="ellipse">
            <a:avLst/>
          </a:prstGeom>
          <a:solidFill>
            <a:srgbClr val="E84142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" y="356616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68680" y="3566160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src/GEMINI.md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868680" y="3822192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サブディレクトリ（モジュール固有）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663440" y="169164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A085"/>
                </a:solidFill>
              </a:rPr>
              <a:t>記述例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663440" y="2057400"/>
            <a:ext cx="4114800" cy="2286000"/>
          </a:xfrm>
          <a:prstGeom prst="roundRect">
            <a:avLst>
              <a:gd name="adj" fmla="val 4000"/>
            </a:avLst>
          </a:prstGeom>
          <a:solidFill>
            <a:srgbClr val="0D0D1A"/>
          </a:solidFill>
          <a:ln/>
        </p:spPr>
      </p:sp>
      <p:sp>
        <p:nvSpPr>
          <p:cNvPr id="23" name="Text 21"/>
          <p:cNvSpPr/>
          <p:nvPr/>
        </p:nvSpPr>
        <p:spPr>
          <a:xfrm>
            <a:off x="4754880" y="2103120"/>
            <a:ext cx="393192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Project: My App</a:t>
            </a:r>
            <a:endParaRPr lang="en-US" sz="800" dirty="0"/>
          </a:p>
          <a:p>
            <a:pPr indent="0" marL="0">
              <a:buNone/>
            </a:pP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88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## General Instructions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88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Follow existing coding style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88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Add JSDoc comments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88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Use TypeScript 5.0+</a:t>
            </a:r>
            <a:endParaRPr lang="en-US" sz="800" dirty="0"/>
          </a:p>
          <a:p>
            <a:pPr indent="0" marL="0">
              <a:buNone/>
            </a:pP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88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## Coding Style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88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- 2 spaces for indentation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88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Interface names with `I` prefix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88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Always use strict equality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E84142"/>
          </a:solidFill>
          <a:ln/>
        </p:spPr>
      </p:sp>
      <p:sp>
        <p:nvSpPr>
          <p:cNvPr id="3" name="Shape 1"/>
          <p:cNvSpPr/>
          <p:nvPr/>
        </p:nvSpPr>
        <p:spPr>
          <a:xfrm>
            <a:off x="365760" y="164592"/>
            <a:ext cx="1097280" cy="411480"/>
          </a:xfrm>
          <a:prstGeom prst="roundRect">
            <a:avLst>
              <a:gd name="adj" fmla="val 48889"/>
            </a:avLst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64592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84142"/>
                </a:solidFill>
              </a:rPr>
              <a:t>Phase 1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645920" y="18288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スキル（Skills）とは？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65760" y="914400"/>
            <a:ext cx="8412480" cy="914400"/>
          </a:xfrm>
          <a:prstGeom prst="roundRect">
            <a:avLst>
              <a:gd name="adj" fmla="val 10000"/>
            </a:avLst>
          </a:prstGeom>
          <a:solidFill>
            <a:srgbClr val="2D4A3E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1C40F"/>
                </a:solidFill>
              </a:rPr>
              <a:t>💡 スキル = AI に「専門知識」をオンデマンドで追加する仕組み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13716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ゲーム開発、API 設計など特定タスクに最適化された振る舞いを与えられます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" y="2011680"/>
            <a:ext cx="3474720" cy="1645920"/>
          </a:xfrm>
          <a:prstGeom prst="roundRect">
            <a:avLst>
              <a:gd name="adj" fmla="val 5556"/>
            </a:avLst>
          </a:prstGeom>
          <a:solidFill>
            <a:srgbClr val="252540"/>
          </a:solidFill>
          <a:ln/>
        </p:spPr>
      </p:sp>
      <p:sp>
        <p:nvSpPr>
          <p:cNvPr id="10" name="Text 8"/>
          <p:cNvSpPr/>
          <p:nvPr/>
        </p:nvSpPr>
        <p:spPr>
          <a:xfrm>
            <a:off x="365760" y="210312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CCCCC"/>
                </a:solidFill>
              </a:rPr>
              <a:t>スキルなし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65760" y="237744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🤖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457200" y="283464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CCCCC"/>
                </a:solidFill>
              </a:rPr>
              <a:t>「グリッドゲーム？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CCCCCC"/>
                </a:solidFill>
              </a:rPr>
              <a:t>えーと、どう作るかな...」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023360" y="2651760"/>
            <a:ext cx="548640" cy="365760"/>
          </a:xfrm>
          <a:prstGeom prst="rightArrow">
            <a:avLst/>
          </a:prstGeom>
          <a:solidFill>
            <a:srgbClr val="16A085"/>
          </a:solidFill>
          <a:ln/>
        </p:spPr>
      </p:sp>
      <p:sp>
        <p:nvSpPr>
          <p:cNvPr id="14" name="Text 12"/>
          <p:cNvSpPr/>
          <p:nvPr/>
        </p:nvSpPr>
        <p:spPr>
          <a:xfrm>
            <a:off x="3931920" y="306324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6A085"/>
                </a:solidFill>
              </a:rPr>
              <a:t>+スキル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846320" y="2011680"/>
            <a:ext cx="3931920" cy="1645920"/>
          </a:xfrm>
          <a:prstGeom prst="roundRect">
            <a:avLst>
              <a:gd name="adj" fmla="val 5556"/>
            </a:avLst>
          </a:prstGeom>
          <a:solidFill>
            <a:srgbClr val="E84142"/>
          </a:solidFill>
          <a:ln/>
        </p:spPr>
      </p:sp>
      <p:sp>
        <p:nvSpPr>
          <p:cNvPr id="16" name="Text 14"/>
          <p:cNvSpPr/>
          <p:nvPr/>
        </p:nvSpPr>
        <p:spPr>
          <a:xfrm>
            <a:off x="4846320" y="210312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スキルあり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846320" y="237744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🎮🤖</a:t>
            </a:r>
            <a:endParaRPr lang="en-US" sz="3200" dirty="0"/>
          </a:p>
        </p:txBody>
      </p:sp>
      <p:sp>
        <p:nvSpPr>
          <p:cNvPr id="18" name="Text 16"/>
          <p:cNvSpPr/>
          <p:nvPr/>
        </p:nvSpPr>
        <p:spPr>
          <a:xfrm>
            <a:off x="4937760" y="2834640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「CSS Grid で10x10作って、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キーボードイベントで移動...」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65760" y="38404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今日使うスキル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65760" y="4160520"/>
            <a:ext cx="8412480" cy="640080"/>
          </a:xfrm>
          <a:prstGeom prst="roundRect">
            <a:avLst>
              <a:gd name="adj" fmla="val 11429"/>
            </a:avLst>
          </a:prstGeom>
          <a:solidFill>
            <a:srgbClr val="252540"/>
          </a:solidFill>
          <a:ln/>
        </p:spPr>
      </p:sp>
      <p:sp>
        <p:nvSpPr>
          <p:cNvPr id="21" name="Text 19"/>
          <p:cNvSpPr/>
          <p:nvPr/>
        </p:nvSpPr>
        <p:spPr>
          <a:xfrm>
            <a:off x="457200" y="42062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</a:rPr>
              <a:t>• react-css-grid-game-rendering  →  グリッドゲーム開発の専門知識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9B59B6"/>
          </a:solidFill>
          <a:ln/>
        </p:spPr>
      </p:sp>
      <p:sp>
        <p:nvSpPr>
          <p:cNvPr id="3" name="Shape 1"/>
          <p:cNvSpPr/>
          <p:nvPr/>
        </p:nvSpPr>
        <p:spPr>
          <a:xfrm>
            <a:off x="365760" y="164592"/>
            <a:ext cx="731520" cy="411480"/>
          </a:xfrm>
          <a:prstGeom prst="roundRect">
            <a:avLst>
              <a:gd name="adj" fmla="val 48889"/>
            </a:avLst>
          </a:prstGeom>
          <a:solidFill>
            <a:srgbClr val="F1C40F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64592"/>
            <a:ext cx="731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2E"/>
                </a:solidFill>
              </a:rPr>
              <a:t>NEW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280160" y="1828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スキルの入手先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365760" y="914400"/>
            <a:ext cx="8412480" cy="640080"/>
          </a:xfrm>
          <a:prstGeom prst="roundRect">
            <a:avLst>
              <a:gd name="adj" fmla="val 14286"/>
            </a:avLst>
          </a:prstGeom>
          <a:solidFill>
            <a:srgbClr val="2D4A3E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00584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1C40F"/>
                </a:solidFill>
              </a:rPr>
              <a:t>💡 Skill-Creator (Gemini標準) / /skill-create (Anthropic) で相互変換可能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128016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スキルファイルをダウンロードして変換ツールで利用可能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65760" y="164592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A085"/>
                </a:solidFill>
              </a:rPr>
              <a:t>コミュニティリポジトリ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65760" y="1920240"/>
            <a:ext cx="4114800" cy="457200"/>
          </a:xfrm>
          <a:prstGeom prst="roundRect">
            <a:avLst>
              <a:gd name="adj" fmla="val 13333"/>
            </a:avLst>
          </a:prstGeom>
          <a:solidFill>
            <a:srgbClr val="252540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1965960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6A0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  <a:hlinkClick r:id="rId3"/>
              </a:rPr>
              <a:t>https://github.com/VoltAgent/awesome-agent-skills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657600" y="1965960"/>
            <a:ext cx="640080" cy="182880"/>
          </a:xfrm>
          <a:prstGeom prst="roundRect">
            <a:avLst>
              <a:gd name="adj" fmla="val 48000"/>
            </a:avLst>
          </a:prstGeom>
          <a:solidFill>
            <a:srgbClr val="E84142"/>
          </a:solidFill>
          <a:ln/>
        </p:spPr>
      </p:sp>
      <p:sp>
        <p:nvSpPr>
          <p:cNvPr id="13" name="Text 11"/>
          <p:cNvSpPr/>
          <p:nvPr/>
        </p:nvSpPr>
        <p:spPr>
          <a:xfrm>
            <a:off x="3657600" y="1965960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200+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457200" y="2148840"/>
            <a:ext cx="3931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CCCCC"/>
                </a:solidFill>
              </a:rPr>
              <a:t>AI コーディングアシスタント向け公式キュレーション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365760" y="2468880"/>
            <a:ext cx="4114800" cy="457200"/>
          </a:xfrm>
          <a:prstGeom prst="roundRect">
            <a:avLst>
              <a:gd name="adj" fmla="val 13333"/>
            </a:avLst>
          </a:prstGeom>
          <a:solidFill>
            <a:srgbClr val="252540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2514600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6A0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  <a:hlinkClick r:id="rId4"/>
              </a:rPr>
              <a:t>https://github.com/sickn33/antigravity-awesome-skills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657600" y="2514600"/>
            <a:ext cx="640080" cy="182880"/>
          </a:xfrm>
          <a:prstGeom prst="roundRect">
            <a:avLst>
              <a:gd name="adj" fmla="val 48000"/>
            </a:avLst>
          </a:prstGeom>
          <a:solidFill>
            <a:srgbClr val="E84142"/>
          </a:solidFill>
          <a:ln/>
        </p:spPr>
      </p:sp>
      <p:sp>
        <p:nvSpPr>
          <p:cNvPr id="18" name="Text 16"/>
          <p:cNvSpPr/>
          <p:nvPr/>
        </p:nvSpPr>
        <p:spPr>
          <a:xfrm>
            <a:off x="3657600" y="2514600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626+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457200" y="2697480"/>
            <a:ext cx="3931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CCCCC"/>
                </a:solidFill>
              </a:rPr>
              <a:t>最大のコミュニティコレクション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4663440" y="164592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A7756"/>
                </a:solidFill>
              </a:rPr>
              <a:t>🔌 Gemini CLI Extensions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663440" y="1920240"/>
            <a:ext cx="4114800" cy="1005840"/>
          </a:xfrm>
          <a:prstGeom prst="roundRect">
            <a:avLst>
              <a:gd name="adj" fmla="val 9091"/>
            </a:avLst>
          </a:prstGeom>
          <a:solidFill>
            <a:srgbClr val="252540"/>
          </a:solidFill>
          <a:ln/>
        </p:spPr>
      </p:sp>
      <p:sp>
        <p:nvSpPr>
          <p:cNvPr id="22" name="Text 20"/>
          <p:cNvSpPr/>
          <p:nvPr/>
        </p:nvSpPr>
        <p:spPr>
          <a:xfrm>
            <a:off x="4754880" y="1965960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A7756"/>
                </a:solidFill>
                <a:hlinkClick r:id="rId5"/>
              </a:rPr>
              <a:t>https://geminicli.com/extensions/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7955280" y="1965960"/>
            <a:ext cx="640080" cy="182880"/>
          </a:xfrm>
          <a:prstGeom prst="roundRect">
            <a:avLst>
              <a:gd name="adj" fmla="val 48000"/>
            </a:avLst>
          </a:prstGeom>
          <a:solidFill>
            <a:srgbClr val="E84142"/>
          </a:solidFill>
          <a:ln/>
        </p:spPr>
      </p:sp>
      <p:sp>
        <p:nvSpPr>
          <p:cNvPr id="24" name="Text 22"/>
          <p:cNvSpPr/>
          <p:nvPr/>
        </p:nvSpPr>
        <p:spPr>
          <a:xfrm>
            <a:off x="7955280" y="1965960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342+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4754880" y="2148840"/>
            <a:ext cx="3931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CCCCC"/>
                </a:solidFill>
              </a:rPr>
              <a:t>MCP, Skills, Hooks, Context Tools など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4754880" y="2331720"/>
            <a:ext cx="3931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CCCCC"/>
                </a:solidFill>
              </a:rPr>
              <a:t>DB, Cloud, AI/ML, 生産性ツールなど多数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4754880" y="251460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AAAAAA"/>
                </a:solidFill>
              </a:rPr>
              <a:t>※サードパーティ製。セキュリティ要確認</a:t>
            </a:r>
            <a:endParaRPr lang="en-US" sz="700" dirty="0"/>
          </a:p>
        </p:txBody>
      </p:sp>
      <p:sp>
        <p:nvSpPr>
          <p:cNvPr id="28" name="Text 26"/>
          <p:cNvSpPr/>
          <p:nvPr/>
        </p:nvSpPr>
        <p:spPr>
          <a:xfrm>
            <a:off x="365760" y="306324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B59B6"/>
                </a:solidFill>
              </a:rPr>
              <a:t>公式プラグイン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365760" y="3337560"/>
            <a:ext cx="8412480" cy="1097280"/>
          </a:xfrm>
          <a:prstGeom prst="roundRect">
            <a:avLst>
              <a:gd name="adj" fmla="val 8000"/>
            </a:avLst>
          </a:prstGeom>
          <a:solidFill>
            <a:srgbClr val="252540"/>
          </a:solidFill>
          <a:ln/>
        </p:spPr>
      </p:sp>
      <p:sp>
        <p:nvSpPr>
          <p:cNvPr id="30" name="Text 28"/>
          <p:cNvSpPr/>
          <p:nvPr/>
        </p:nvSpPr>
        <p:spPr>
          <a:xfrm>
            <a:off x="457200" y="3383280"/>
            <a:ext cx="8000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B59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  <a:hlinkClick r:id="rId6"/>
              </a:rPr>
              <a:t>https://github.com/anthropics/claude-code/tree/main/plugins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57200" y="3566160"/>
            <a:ext cx="8000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CCCCC"/>
                </a:solidFill>
              </a:rPr>
              <a:t>Anthropic 公式（Claude Code プラグイン内蔵）</a:t>
            </a:r>
            <a:endParaRPr lang="en-US" sz="800" dirty="0"/>
          </a:p>
        </p:txBody>
      </p:sp>
      <p:sp>
        <p:nvSpPr>
          <p:cNvPr id="35" name="Text Skills Row1"/>
          <p:cNvSpPr/>
          <p:nvPr/>
        </p:nvSpPr>
        <p:spPr>
          <a:xfrm>
            <a:off x="457200" y="3749040"/>
            <a:ext cx="8000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urier New" pitchFamily="34" charset="0"/>
              </a:rPr>
              <a:t>agent-sdk-dev  |  code-review  |  commit-commands  |  feature-dev  |  frontend-design</a:t>
            </a:r>
            <a:endParaRPr lang="en-US" sz="800" dirty="0"/>
          </a:p>
        </p:txBody>
      </p:sp>
      <p:sp>
        <p:nvSpPr>
          <p:cNvPr id="36" name="Text Skills Row2"/>
          <p:cNvSpPr/>
          <p:nvPr/>
        </p:nvSpPr>
        <p:spPr>
          <a:xfrm>
            <a:off x="457200" y="3931920"/>
            <a:ext cx="8000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urier New" pitchFamily="34" charset="0"/>
              </a:rPr>
              <a:t>hookify  |  plugin-dev  |  pr-review-toolkit  |  security-guidance  |  claude-opus-4-5-migration</a:t>
            </a:r>
            <a:endParaRPr lang="en-US" sz="800" dirty="0"/>
          </a:p>
        </p:txBody>
      </p:sp>
      <p:sp>
        <p:nvSpPr>
          <p:cNvPr id="37" name="Text Skills Note"/>
          <p:cNvSpPr/>
          <p:nvPr/>
        </p:nvSpPr>
        <p:spPr>
          <a:xfrm>
            <a:off x="457200" y="4114800"/>
            <a:ext cx="8000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AAAAAA"/>
                </a:solidFill>
              </a:rPr>
              <a:t>※ コードレビュー、PRレビュー、セキュリティガイダンス、フロントエンド設計などをカバー</a:t>
            </a:r>
            <a:endParaRPr lang="en-US" sz="7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lide 14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E84142"/>
          </a:solidFill>
          <a:ln/>
        </p:spPr>
      </p:sp>
      <p:sp>
        <p:nvSpPr>
          <p:cNvPr id="3" name="Shape 1"/>
          <p:cNvSpPr/>
          <p:nvPr/>
        </p:nvSpPr>
        <p:spPr>
          <a:xfrm>
            <a:off x="365760" y="164592"/>
            <a:ext cx="1097280" cy="411480"/>
          </a:xfrm>
          <a:prstGeom prst="roundRect">
            <a:avLst>
              <a:gd name="adj" fmla="val 48889"/>
            </a:avLst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64592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84142"/>
                </a:solidFill>
              </a:rPr>
              <a:t>Phase 1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645920" y="18288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スキルのインストール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365760" y="9144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A085"/>
                </a:solidFill>
                <a:hlinkClick r:id="rId3"/>
              </a:rPr>
              <a:t>Step 1: スキルファイルをダウンロード → https://github.com/CobaltSato/react-grid-game-rendering-skill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1234440"/>
            <a:ext cx="8412480" cy="1188720"/>
          </a:xfrm>
          <a:prstGeom prst="roundRect">
            <a:avLst>
              <a:gd name="adj" fmla="val 7692"/>
            </a:avLst>
          </a:prstGeom>
          <a:solidFill>
            <a:srgbClr val="0D0D1A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28016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ダウンロードしたファイルをプロジェクトルートに配置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88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mv ./docs/hands-on/react-css-grid-game-rendering.skill .</a:t>
            </a:r>
            <a:endParaRPr lang="en-US" sz="800" dirty="0"/>
          </a:p>
          <a:p>
            <a:pPr indent="0" marL="0">
              <a:buNone/>
            </a:pP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88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スキルをインストール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88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gemini skills install ./react-css-grid-game-rendering.skill --scope workspace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365760" y="2560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A085"/>
                </a:solidFill>
              </a:rPr>
              <a:t>Step 2: Gemini CLI 内でリロード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65760" y="2880360"/>
            <a:ext cx="4023360" cy="640080"/>
          </a:xfrm>
          <a:prstGeom prst="roundRect">
            <a:avLst>
              <a:gd name="adj" fmla="val 14286"/>
            </a:avLst>
          </a:prstGeom>
          <a:solidFill>
            <a:srgbClr val="0D0D1A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2926080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gemini            # CLI を再起動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8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/skills reload    # スキルを再読み込み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8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/skills list      # インストール確認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572000" y="2560320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A085"/>
                </a:solidFill>
              </a:rPr>
              <a:t>スコープ（保存場所）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0" y="2880360"/>
            <a:ext cx="4206240" cy="1371600"/>
          </a:xfrm>
          <a:prstGeom prst="roundRect">
            <a:avLst>
              <a:gd name="adj" fmla="val 6667"/>
            </a:avLst>
          </a:prstGeom>
          <a:solidFill>
            <a:srgbClr val="252540"/>
          </a:solidFill>
          <a:ln/>
        </p:spPr>
      </p:sp>
      <p:sp>
        <p:nvSpPr>
          <p:cNvPr id="14" name="Text 12"/>
          <p:cNvSpPr/>
          <p:nvPr/>
        </p:nvSpPr>
        <p:spPr>
          <a:xfrm>
            <a:off x="4663440" y="2926080"/>
            <a:ext cx="40233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--scope workspace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  → .gemini/skills/ に保存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  → このプロジェクトのみ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--scope user (デフォルト)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  → ~/.gemini/skills/ に保存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  → 全プロジェクト共通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65760" y="3657600"/>
            <a:ext cx="4023360" cy="1143000"/>
          </a:xfrm>
          <a:prstGeom prst="roundRect">
            <a:avLst>
              <a:gd name="adj" fmla="val 8000"/>
            </a:avLst>
          </a:prstGeom>
          <a:solidFill>
            <a:srgbClr val="252540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3703320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6A085"/>
                </a:solidFill>
              </a:rPr>
              <a:t>その他のスキル管理コマンド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7200" y="3931920"/>
            <a:ext cx="3840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gemini skills list          # 一覧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gemini skills uninstall     # 削除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gemini skills enable/disable # 有効/無効</a:t>
            </a:r>
            <a:endParaRPr lang="en-US" sz="900" dirty="0"/>
          </a:p>
        </p:txBody>
      </p:sp>
      <p:sp>
        <p:nvSpPr>
          <p:cNvPr id="18" name="Video Link"/>
          <p:cNvSpPr/>
          <p:nvPr/>
        </p:nvSpPr>
        <p:spPr>
          <a:xfrm>
            <a:off x="7620000" y="4572000"/>
            <a:ext cx="1371600" cy="365760"/>
          </a:xfrm>
          <a:prstGeom prst="roundRect">
            <a:avLst>
              <a:gd name="adj" fmla="val 16667"/>
            </a:avLst>
          </a:prstGeom>
          <a:solidFill>
            <a:srgbClr val="E84142"/>
          </a:solidFill>
          <a:ln w="12700">
            <a:noFill/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ja-JP" sz="1200" b="1" dirty="0">
                <a:solidFill>
                  <a:srgbClr val="FFFFFF"/>
                </a:solidFill>
                <a:hlinkClick r:id="rId4"/>
              </a:rPr>
              <a:t>🎬 動画を見る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lide 15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E84142"/>
          </a:solidFill>
          <a:ln/>
        </p:spPr>
      </p:sp>
      <p:sp>
        <p:nvSpPr>
          <p:cNvPr id="3" name="Shape 1"/>
          <p:cNvSpPr/>
          <p:nvPr/>
        </p:nvSpPr>
        <p:spPr>
          <a:xfrm>
            <a:off x="365760" y="164592"/>
            <a:ext cx="1097280" cy="411480"/>
          </a:xfrm>
          <a:prstGeom prst="roundRect">
            <a:avLst>
              <a:gd name="adj" fmla="val 48889"/>
            </a:avLst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64592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84142"/>
                </a:solidFill>
              </a:rPr>
              <a:t>Phase 2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645920" y="18288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スマートコントラクト作成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65760" y="914400"/>
            <a:ext cx="8412480" cy="640080"/>
          </a:xfrm>
          <a:prstGeom prst="roundRect">
            <a:avLst>
              <a:gd name="adj" fmla="val 14286"/>
            </a:avLst>
          </a:prstGeom>
          <a:solidFill>
            <a:srgbClr val="2D4A3E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00584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1C40F"/>
                </a:solidFill>
              </a:rPr>
              <a:t>💡 スマートコントラクト = ブロックチェーン上で動く「自動実行プログラム」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128016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データの保存・取得ルールを定義。一度デプロイすると改ざん不可能！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65760" y="169164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A085"/>
                </a:solidFill>
              </a:rPr>
              <a:t>Gemini に依頼するプロンプト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65760" y="20574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252540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2148840"/>
            <a:ext cx="484632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</a:rPr>
              <a:t>プレイヤーの 10x10 座標を保存・取得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</a:rPr>
              <a:t>できるコントラクトを作成して。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</a:rPr>
              <a:t>要件: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</a:rPr>
              <a:t>- 位置を初期化する関数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</a:rPr>
              <a:t>- 1歩移動する関数（上下左右）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</a:rPr>
              <a:t>- 座標は 0-9 の範囲に制限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</a:rPr>
              <a:t>出力先: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</a:rPr>
              <a:t>- Solidity: contracts/PositionTracker.sol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</a:rPr>
              <a:t>- ABI: .env.local.example に追記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577840" y="169164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A085"/>
                </a:solidFill>
              </a:rPr>
              <a:t>Gemini がやること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577840" y="2057400"/>
            <a:ext cx="3200400" cy="2286000"/>
          </a:xfrm>
          <a:prstGeom prst="roundRect">
            <a:avLst>
              <a:gd name="adj" fmla="val 4000"/>
            </a:avLst>
          </a:prstGeom>
          <a:solidFill>
            <a:srgbClr val="252540"/>
          </a:solidFill>
          <a:ln/>
        </p:spPr>
      </p:sp>
      <p:sp>
        <p:nvSpPr>
          <p:cNvPr id="14" name="Text 12"/>
          <p:cNvSpPr/>
          <p:nvPr/>
        </p:nvSpPr>
        <p:spPr>
          <a:xfrm>
            <a:off x="5669280" y="224028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📄 Solidity コード生成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669280" y="269748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💾 ファイルに保存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669280" y="315468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📋 ABI を抽出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669280" y="361188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✅ 動作確認</a:t>
            </a:r>
            <a:endParaRPr lang="en-US" sz="1100" dirty="0"/>
          </a:p>
        </p:txBody>
      </p:sp>
      <p:sp>
        <p:nvSpPr>
          <p:cNvPr id="18" name="Video Link"/>
          <p:cNvSpPr/>
          <p:nvPr/>
        </p:nvSpPr>
        <p:spPr>
          <a:xfrm>
            <a:off x="7620000" y="4572000"/>
            <a:ext cx="1371600" cy="365760"/>
          </a:xfrm>
          <a:prstGeom prst="roundRect">
            <a:avLst>
              <a:gd name="adj" fmla="val 16667"/>
            </a:avLst>
          </a:prstGeom>
          <a:solidFill>
            <a:srgbClr val="E84142"/>
          </a:solidFill>
          <a:ln w="12700">
            <a:noFill/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ja-JP" sz="1200" b="1" dirty="0">
                <a:solidFill>
                  <a:srgbClr val="FFFFFF"/>
                </a:solidFill>
                <a:hlinkClick r:id="rId3"/>
              </a:rPr>
              <a:t>🎬 動画を見る</a:t>
            </a:r>
            <a:endParaRPr lang="en-US" sz="1200" dirty="0"/>
          </a:p>
        </p:txBody>
      </p:sp>
      <p:sp>
        <p:nvSpPr>
          <p:cNvPr id="19" name="Link Button"/>
          <p:cNvSpPr/>
          <p:nvPr/>
        </p:nvSpPr>
        <p:spPr>
          <a:xfrm>
            <a:off x="274320" y="4480560"/>
            <a:ext cx="1828800" cy="365760"/>
          </a:xfrm>
          <a:prstGeom prst="roundRect">
            <a:avLst>
              <a:gd name="adj" fmla="val 16667"/>
            </a:avLst>
          </a:prstGeom>
          <a:solidFill>
            <a:srgbClr val="F39C12"/>
          </a:solidFill>
          <a:ln w="12700">
            <a:noFill/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ja-JP" sz="1000" b="1" dirty="0">
                <a:solidFill>
                  <a:srgbClr val="FFFFFF"/>
                </a:solidFill>
                <a:hlinkClick r:id="rId4"/>
              </a:rPr>
              <a:t>📁 コントラクト例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lide 16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E84142"/>
          </a:solidFill>
          <a:ln/>
        </p:spPr>
      </p:sp>
      <p:sp>
        <p:nvSpPr>
          <p:cNvPr id="3" name="Shape 1"/>
          <p:cNvSpPr/>
          <p:nvPr/>
        </p:nvSpPr>
        <p:spPr>
          <a:xfrm>
            <a:off x="365760" y="164592"/>
            <a:ext cx="1097280" cy="411480"/>
          </a:xfrm>
          <a:prstGeom prst="roundRect">
            <a:avLst>
              <a:gd name="adj" fmla="val 48889"/>
            </a:avLst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64592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84142"/>
                </a:solidFill>
              </a:rPr>
              <a:t>Phase 3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645920" y="18288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コントラクトをデプロイ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65760" y="914400"/>
            <a:ext cx="8412480" cy="731520"/>
          </a:xfrm>
          <a:prstGeom prst="roundRect">
            <a:avLst>
              <a:gd name="adj" fmla="val 12500"/>
            </a:avLst>
          </a:prstGeom>
          <a:solidFill>
            <a:srgbClr val="2D4A3E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0058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1C40F"/>
                </a:solidFill>
              </a:rPr>
              <a:t>💡 Fuji テストネット = Avalanche の「練習場」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1325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本番（Mainnet）と同じ仕組み。無料のテスト AVAX を使って開発・テストできます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1828800"/>
            <a:ext cx="2651760" cy="2377440"/>
          </a:xfrm>
          <a:prstGeom prst="roundRect">
            <a:avLst>
              <a:gd name="adj" fmla="val 4615"/>
            </a:avLst>
          </a:prstGeom>
          <a:solidFill>
            <a:srgbClr val="252540"/>
          </a:solidFill>
          <a:ln/>
        </p:spPr>
      </p:sp>
      <p:sp>
        <p:nvSpPr>
          <p:cNvPr id="10" name="Shape 8"/>
          <p:cNvSpPr/>
          <p:nvPr/>
        </p:nvSpPr>
        <p:spPr>
          <a:xfrm>
            <a:off x="1417320" y="1965960"/>
            <a:ext cx="731520" cy="731520"/>
          </a:xfrm>
          <a:prstGeom prst="ellipse">
            <a:avLst/>
          </a:prstGeom>
          <a:solidFill>
            <a:srgbClr val="E84142"/>
          </a:solidFill>
          <a:ln/>
        </p:spPr>
      </p:sp>
      <p:sp>
        <p:nvSpPr>
          <p:cNvPr id="11" name="Text 9"/>
          <p:cNvSpPr/>
          <p:nvPr/>
        </p:nvSpPr>
        <p:spPr>
          <a:xfrm>
            <a:off x="1417320" y="196596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1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457200" y="283464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テスト AVAX 取得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7200" y="3200400"/>
            <a:ext cx="2651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Faucet から無料で入手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CCCCCC"/>
                </a:solidFill>
                <a:hlinkClick r:id="rId3"/>
              </a:rPr>
              <a:t>https://build.avax.network/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console/primary-network/faucet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383280" y="1828800"/>
            <a:ext cx="2651760" cy="2377440"/>
          </a:xfrm>
          <a:prstGeom prst="roundRect">
            <a:avLst>
              <a:gd name="adj" fmla="val 4615"/>
            </a:avLst>
          </a:prstGeom>
          <a:solidFill>
            <a:srgbClr val="252540"/>
          </a:solidFill>
          <a:ln/>
        </p:spPr>
      </p:sp>
      <p:sp>
        <p:nvSpPr>
          <p:cNvPr id="15" name="Shape 13"/>
          <p:cNvSpPr/>
          <p:nvPr/>
        </p:nvSpPr>
        <p:spPr>
          <a:xfrm>
            <a:off x="4343400" y="1965960"/>
            <a:ext cx="731520" cy="731520"/>
          </a:xfrm>
          <a:prstGeom prst="ellipse">
            <a:avLst/>
          </a:prstGeom>
          <a:solidFill>
            <a:srgbClr val="E84142"/>
          </a:solidFill>
          <a:ln/>
        </p:spPr>
      </p:sp>
      <p:sp>
        <p:nvSpPr>
          <p:cNvPr id="16" name="Text 14"/>
          <p:cNvSpPr/>
          <p:nvPr/>
        </p:nvSpPr>
        <p:spPr>
          <a:xfrm>
            <a:off x="4343400" y="196596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2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3383280" y="283464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Remix でデプロイ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383280" y="3200400"/>
            <a:ext cx="2651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CCCCC"/>
                </a:solidFill>
                <a:hlinkClick r:id="rId4"/>
              </a:rPr>
              <a:t>https://remix.ethereum.org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で Solidity をコンパイル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→ Fuji にデプロイ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309360" y="1828800"/>
            <a:ext cx="2651760" cy="2377440"/>
          </a:xfrm>
          <a:prstGeom prst="roundRect">
            <a:avLst>
              <a:gd name="adj" fmla="val 4615"/>
            </a:avLst>
          </a:prstGeom>
          <a:solidFill>
            <a:srgbClr val="252540"/>
          </a:solidFill>
          <a:ln/>
        </p:spPr>
      </p:sp>
      <p:sp>
        <p:nvSpPr>
          <p:cNvPr id="20" name="Shape 18"/>
          <p:cNvSpPr/>
          <p:nvPr/>
        </p:nvSpPr>
        <p:spPr>
          <a:xfrm>
            <a:off x="7269480" y="1965960"/>
            <a:ext cx="731520" cy="731520"/>
          </a:xfrm>
          <a:prstGeom prst="ellipse">
            <a:avLst/>
          </a:prstGeom>
          <a:solidFill>
            <a:srgbClr val="E84142"/>
          </a:solidFill>
          <a:ln/>
        </p:spPr>
      </p:sp>
      <p:sp>
        <p:nvSpPr>
          <p:cNvPr id="21" name="Text 19"/>
          <p:cNvSpPr/>
          <p:nvPr/>
        </p:nvSpPr>
        <p:spPr>
          <a:xfrm>
            <a:off x="7269480" y="196596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3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6309360" y="283464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環境変数設定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309360" y="3200400"/>
            <a:ext cx="2651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cp .env.local.example .env.local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アドレスを設定</a:t>
            </a:r>
            <a:endParaRPr lang="en-US" sz="900" dirty="0"/>
          </a:p>
        </p:txBody>
      </p:sp>
      <p:sp>
        <p:nvSpPr>
          <p:cNvPr id="24" name="Video Link"/>
          <p:cNvSpPr/>
          <p:nvPr/>
        </p:nvSpPr>
        <p:spPr>
          <a:xfrm>
            <a:off x="7620000" y="4572000"/>
            <a:ext cx="1371600" cy="365760"/>
          </a:xfrm>
          <a:prstGeom prst="roundRect">
            <a:avLst>
              <a:gd name="adj" fmla="val 16667"/>
            </a:avLst>
          </a:prstGeom>
          <a:solidFill>
            <a:srgbClr val="E84142"/>
          </a:solidFill>
          <a:ln w="12700">
            <a:noFill/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ja-JP" sz="1200" b="1" dirty="0">
                <a:solidFill>
                  <a:srgbClr val="FFFFFF"/>
                </a:solidFill>
                <a:hlinkClick r:id="rId5"/>
              </a:rPr>
              <a:t>🎬 動画を見る</a:t>
            </a:r>
            <a:endParaRPr lang="en-US" sz="1200" dirty="0"/>
          </a:p>
        </p:txBody>
      </p:sp>
      <p:sp>
        <p:nvSpPr>
          <p:cNvPr id="25" name="Snowtrace Link"/>
          <p:cNvSpPr/>
          <p:nvPr/>
        </p:nvSpPr>
        <p:spPr>
          <a:xfrm>
            <a:off x="274320" y="4480560"/>
            <a:ext cx="1828800" cy="365760"/>
          </a:xfrm>
          <a:prstGeom prst="roundRect">
            <a:avLst>
              <a:gd name="adj" fmla="val 16667"/>
            </a:avLst>
          </a:prstGeom>
          <a:solidFill>
            <a:srgbClr val="3498DB"/>
          </a:solidFill>
          <a:ln w="12700">
            <a:noFill/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ja-JP" sz="1000" b="1" dirty="0">
                <a:solidFill>
                  <a:srgbClr val="FFFFFF"/>
                </a:solidFill>
                <a:hlinkClick r:id="rId6"/>
              </a:rPr>
              <a:t>🔍 Snowtrace Explorer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lide 17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F1C40F"/>
          </a:solidFill>
          <a:ln/>
        </p:spPr>
      </p:sp>
      <p:sp>
        <p:nvSpPr>
          <p:cNvPr id="3" name="Shape 1"/>
          <p:cNvSpPr/>
          <p:nvPr/>
        </p:nvSpPr>
        <p:spPr>
          <a:xfrm>
            <a:off x="365760" y="164592"/>
            <a:ext cx="1097280" cy="411480"/>
          </a:xfrm>
          <a:prstGeom prst="roundRect">
            <a:avLst>
              <a:gd name="adj" fmla="val 48889"/>
            </a:avLst>
          </a:prstGeom>
          <a:solidFill>
            <a:srgbClr val="1A1A2E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64592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1C40F"/>
                </a:solidFill>
              </a:rPr>
              <a:t>Phase 4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645920" y="18288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2E"/>
                </a:solidFill>
              </a:rPr>
              <a:t>アプリ作成（メイン！）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65760" y="914400"/>
            <a:ext cx="8412480" cy="640080"/>
          </a:xfrm>
          <a:prstGeom prst="roundRect">
            <a:avLst>
              <a:gd name="adj" fmla="val 14286"/>
            </a:avLst>
          </a:prstGeom>
          <a:solidFill>
            <a:srgbClr val="2D4A3E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0058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1C40F"/>
                </a:solidFill>
              </a:rPr>
              <a:t>💡 タスク管理を AI にさせる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128016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Gemini にフェーズ分割でタスクを管理させ、段階的に検収しながら進められます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65760" y="16916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A085"/>
                </a:solidFill>
              </a:rPr>
              <a:t>Gemini に依頼するプロンプト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65760" y="2057400"/>
            <a:ext cx="8412480" cy="2377440"/>
          </a:xfrm>
          <a:prstGeom prst="roundRect">
            <a:avLst>
              <a:gd name="adj" fmla="val 3846"/>
            </a:avLst>
          </a:prstGeom>
          <a:solidFill>
            <a:srgbClr val="252540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2148840"/>
            <a:ext cx="822960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</a:rPr>
              <a:t>10x10 の 2D グリッドゲームを作成して。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</a:rPr>
              <a:t>要件: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</a:rPr>
              <a:t>- react-css-grid-game-rendering スキルを使用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</a:rPr>
              <a:t>- 日本語で docs/task.md にタスクリストを生成（5フェーズ）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</a:rPr>
              <a:t>- タスク完了ごとに task.md にチェックを入れる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</a:rPr>
              <a:t>- フェーズごとにユーザー検収を促す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</a:rPr>
              <a:t>- キーボード（↑↓←→）でプレイヤーを移動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</a:rPr>
              <a:t>- 移動時にコントラクトに座標を書き込む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</a:rPr>
              <a:t>参照ファイル: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</a:rPr>
              <a:t>- contracts/PositionTracker.sol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</a:rPr>
              <a:t>- .env.local.example（コントラクトアドレス・ABI）</a:t>
            </a:r>
            <a:endParaRPr lang="en-US" sz="1000" dirty="0"/>
          </a:p>
        </p:txBody>
      </p:sp>
      <p:sp>
        <p:nvSpPr>
          <p:cNvPr id="12" name="Video Link 1"/>
          <p:cNvSpPr/>
          <p:nvPr/>
        </p:nvSpPr>
        <p:spPr>
          <a:xfrm>
            <a:off x="571500" y="4572000"/>
            <a:ext cx="1143000" cy="320040"/>
          </a:xfrm>
          <a:prstGeom prst="roundRect">
            <a:avLst>
              <a:gd name="adj" fmla="val 16667"/>
            </a:avLst>
          </a:prstGeom>
          <a:solidFill>
            <a:srgbClr val="E84142"/>
          </a:solidFill>
          <a:ln w="12700">
            <a:noFill/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ja-JP" sz="1100" b="1" dirty="0">
                <a:solidFill>
                  <a:srgbClr val="FFFFFF"/>
                </a:solidFill>
                <a:hlinkClick r:id="rId4"/>
              </a:rPr>
              <a:t>🎬 Phase 1</a:t>
            </a:r>
            <a:endParaRPr lang="en-US" sz="1100" dirty="0"/>
          </a:p>
        </p:txBody>
      </p:sp>
      <p:sp>
        <p:nvSpPr>
          <p:cNvPr id="13" name="Video Link 2"/>
          <p:cNvSpPr/>
          <p:nvPr/>
        </p:nvSpPr>
        <p:spPr>
          <a:xfrm>
            <a:off x="2286000" y="4572000"/>
            <a:ext cx="1143000" cy="320040"/>
          </a:xfrm>
          <a:prstGeom prst="roundRect">
            <a:avLst>
              <a:gd name="adj" fmla="val 16667"/>
            </a:avLst>
          </a:prstGeom>
          <a:solidFill>
            <a:srgbClr val="E84142"/>
          </a:solidFill>
          <a:ln w="12700">
            <a:noFill/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ja-JP" sz="1100" b="1" dirty="0">
                <a:solidFill>
                  <a:srgbClr val="FFFFFF"/>
                </a:solidFill>
                <a:hlinkClick r:id="rId5"/>
              </a:rPr>
              <a:t>🎬 Phase 2</a:t>
            </a:r>
            <a:endParaRPr lang="en-US" sz="1100" dirty="0"/>
          </a:p>
        </p:txBody>
      </p:sp>
      <p:sp>
        <p:nvSpPr>
          <p:cNvPr id="14" name="Video Link 3"/>
          <p:cNvSpPr/>
          <p:nvPr/>
        </p:nvSpPr>
        <p:spPr>
          <a:xfrm>
            <a:off x="4000500" y="4572000"/>
            <a:ext cx="1143000" cy="320040"/>
          </a:xfrm>
          <a:prstGeom prst="roundRect">
            <a:avLst>
              <a:gd name="adj" fmla="val 16667"/>
            </a:avLst>
          </a:prstGeom>
          <a:solidFill>
            <a:srgbClr val="E84142"/>
          </a:solidFill>
          <a:ln w="12700">
            <a:noFill/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ja-JP" sz="1100" b="1" dirty="0">
                <a:solidFill>
                  <a:srgbClr val="FFFFFF"/>
                </a:solidFill>
                <a:hlinkClick r:id="rId6"/>
              </a:rPr>
              <a:t>🎬 Phase 3</a:t>
            </a:r>
            <a:endParaRPr lang="en-US" sz="1100" dirty="0"/>
          </a:p>
        </p:txBody>
      </p:sp>
      <p:sp>
        <p:nvSpPr>
          <p:cNvPr id="15" name="Video Link 4"/>
          <p:cNvSpPr/>
          <p:nvPr/>
        </p:nvSpPr>
        <p:spPr>
          <a:xfrm>
            <a:off x="5715000" y="4572000"/>
            <a:ext cx="1143000" cy="320040"/>
          </a:xfrm>
          <a:prstGeom prst="roundRect">
            <a:avLst>
              <a:gd name="adj" fmla="val 16667"/>
            </a:avLst>
          </a:prstGeom>
          <a:solidFill>
            <a:srgbClr val="E84142"/>
          </a:solidFill>
          <a:ln w="12700">
            <a:noFill/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ja-JP" sz="1100" b="1" dirty="0">
                <a:solidFill>
                  <a:srgbClr val="FFFFFF"/>
                </a:solidFill>
                <a:hlinkClick r:id="rId7"/>
              </a:rPr>
              <a:t>🎬 Phase 4</a:t>
            </a:r>
            <a:endParaRPr lang="en-US" sz="1100" dirty="0"/>
          </a:p>
        </p:txBody>
      </p:sp>
      <p:sp>
        <p:nvSpPr>
          <p:cNvPr id="16" name="Video Link 5"/>
          <p:cNvSpPr/>
          <p:nvPr/>
        </p:nvSpPr>
        <p:spPr>
          <a:xfrm>
            <a:off x="7429500" y="4572000"/>
            <a:ext cx="1143000" cy="320040"/>
          </a:xfrm>
          <a:prstGeom prst="roundRect">
            <a:avLst>
              <a:gd name="adj" fmla="val 16667"/>
            </a:avLst>
          </a:prstGeom>
          <a:solidFill>
            <a:srgbClr val="E84142"/>
          </a:solidFill>
          <a:ln w="12700">
            <a:noFill/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ja-JP" sz="1100" b="1" dirty="0">
                <a:solidFill>
                  <a:srgbClr val="FFFFFF"/>
                </a:solidFill>
                <a:hlinkClick r:id="rId8"/>
              </a:rPr>
              <a:t>🎬 Phase 5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6A085"/>
          </a:solidFill>
          <a:ln/>
        </p:spPr>
      </p:sp>
      <p:sp>
        <p:nvSpPr>
          <p:cNvPr id="3" name="Shape 1"/>
          <p:cNvSpPr/>
          <p:nvPr/>
        </p:nvSpPr>
        <p:spPr>
          <a:xfrm>
            <a:off x="365760" y="164592"/>
            <a:ext cx="1097280" cy="411480"/>
          </a:xfrm>
          <a:prstGeom prst="roundRect">
            <a:avLst>
              <a:gd name="adj" fmla="val 48889"/>
            </a:avLst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64592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6A085"/>
                </a:solidFill>
              </a:rPr>
              <a:t>Phase 5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645920" y="18288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動作確認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274320" y="1005840"/>
            <a:ext cx="2011680" cy="2377440"/>
          </a:xfrm>
          <a:prstGeom prst="roundRect">
            <a:avLst>
              <a:gd name="adj" fmla="val 5455"/>
            </a:avLst>
          </a:prstGeom>
          <a:solidFill>
            <a:srgbClr val="252540"/>
          </a:solidFill>
          <a:ln/>
        </p:spPr>
      </p:sp>
      <p:sp>
        <p:nvSpPr>
          <p:cNvPr id="7" name="Shape 5"/>
          <p:cNvSpPr/>
          <p:nvPr/>
        </p:nvSpPr>
        <p:spPr>
          <a:xfrm>
            <a:off x="914400" y="1188720"/>
            <a:ext cx="731520" cy="731520"/>
          </a:xfrm>
          <a:prstGeom prst="ellipse">
            <a:avLst/>
          </a:prstGeom>
          <a:solidFill>
            <a:srgbClr val="E84142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11887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1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274320" y="205740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サーバー起動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2468880"/>
            <a:ext cx="1645920" cy="365760"/>
          </a:xfrm>
          <a:prstGeom prst="roundRect">
            <a:avLst>
              <a:gd name="adj" fmla="val 12500"/>
            </a:avLst>
          </a:prstGeom>
          <a:solidFill>
            <a:srgbClr val="0D0D1A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246888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npm run dev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74320" y="292608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CCCCC"/>
                </a:solidFill>
              </a:rPr>
              <a:t>ターミナルで実行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468880" y="1005840"/>
            <a:ext cx="2011680" cy="2377440"/>
          </a:xfrm>
          <a:prstGeom prst="roundRect">
            <a:avLst>
              <a:gd name="adj" fmla="val 5455"/>
            </a:avLst>
          </a:prstGeom>
          <a:solidFill>
            <a:srgbClr val="252540"/>
          </a:solidFill>
          <a:ln/>
        </p:spPr>
      </p:sp>
      <p:sp>
        <p:nvSpPr>
          <p:cNvPr id="14" name="Shape 12"/>
          <p:cNvSpPr/>
          <p:nvPr/>
        </p:nvSpPr>
        <p:spPr>
          <a:xfrm>
            <a:off x="3108960" y="1188720"/>
            <a:ext cx="731520" cy="731520"/>
          </a:xfrm>
          <a:prstGeom prst="ellipse">
            <a:avLst/>
          </a:prstGeom>
          <a:solidFill>
            <a:srgbClr val="E84142"/>
          </a:solidFill>
          <a:ln/>
        </p:spPr>
      </p:sp>
      <p:sp>
        <p:nvSpPr>
          <p:cNvPr id="15" name="Text 13"/>
          <p:cNvSpPr/>
          <p:nvPr/>
        </p:nvSpPr>
        <p:spPr>
          <a:xfrm>
            <a:off x="3108960" y="11887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2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2468880" y="205740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ブラウザ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651760" y="2468880"/>
            <a:ext cx="1645920" cy="365760"/>
          </a:xfrm>
          <a:prstGeom prst="roundRect">
            <a:avLst>
              <a:gd name="adj" fmla="val 12500"/>
            </a:avLst>
          </a:prstGeom>
          <a:solidFill>
            <a:srgbClr val="0D0D1A"/>
          </a:solidFill>
          <a:ln/>
        </p:spPr>
      </p:sp>
      <p:sp>
        <p:nvSpPr>
          <p:cNvPr id="18" name="Text 16"/>
          <p:cNvSpPr/>
          <p:nvPr/>
        </p:nvSpPr>
        <p:spPr>
          <a:xfrm>
            <a:off x="2651760" y="246888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localhost:3000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468880" y="292608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CCCCC"/>
                </a:solidFill>
              </a:rPr>
              <a:t>Wallet 接続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663440" y="1005840"/>
            <a:ext cx="2011680" cy="2377440"/>
          </a:xfrm>
          <a:prstGeom prst="roundRect">
            <a:avLst>
              <a:gd name="adj" fmla="val 5455"/>
            </a:avLst>
          </a:prstGeom>
          <a:solidFill>
            <a:srgbClr val="252540"/>
          </a:solidFill>
          <a:ln/>
        </p:spPr>
      </p:sp>
      <p:sp>
        <p:nvSpPr>
          <p:cNvPr id="21" name="Shape 19"/>
          <p:cNvSpPr/>
          <p:nvPr/>
        </p:nvSpPr>
        <p:spPr>
          <a:xfrm>
            <a:off x="5303520" y="1188720"/>
            <a:ext cx="731520" cy="731520"/>
          </a:xfrm>
          <a:prstGeom prst="ellipse">
            <a:avLst/>
          </a:prstGeom>
          <a:solidFill>
            <a:srgbClr val="E84142"/>
          </a:solidFill>
          <a:ln/>
        </p:spPr>
      </p:sp>
      <p:sp>
        <p:nvSpPr>
          <p:cNvPr id="22" name="Text 20"/>
          <p:cNvSpPr/>
          <p:nvPr/>
        </p:nvSpPr>
        <p:spPr>
          <a:xfrm>
            <a:off x="5303520" y="11887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3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4663440" y="205740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ゲーム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846320" y="2468880"/>
            <a:ext cx="1645920" cy="365760"/>
          </a:xfrm>
          <a:prstGeom prst="roundRect">
            <a:avLst>
              <a:gd name="adj" fmla="val 12500"/>
            </a:avLst>
          </a:prstGeom>
          <a:solidFill>
            <a:srgbClr val="0D0D1A"/>
          </a:solidFill>
          <a:ln/>
        </p:spPr>
      </p:sp>
      <p:sp>
        <p:nvSpPr>
          <p:cNvPr id="25" name="Text 23"/>
          <p:cNvSpPr/>
          <p:nvPr/>
        </p:nvSpPr>
        <p:spPr>
          <a:xfrm>
            <a:off x="4846320" y="246888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← → ↑ ↓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663440" y="292608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CCCCC"/>
                </a:solidFill>
              </a:rPr>
              <a:t>矢印キーで移動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858000" y="1005840"/>
            <a:ext cx="2011680" cy="2377440"/>
          </a:xfrm>
          <a:prstGeom prst="roundRect">
            <a:avLst>
              <a:gd name="adj" fmla="val 5455"/>
            </a:avLst>
          </a:prstGeom>
          <a:solidFill>
            <a:srgbClr val="252540"/>
          </a:solidFill>
          <a:ln/>
        </p:spPr>
      </p:sp>
      <p:sp>
        <p:nvSpPr>
          <p:cNvPr id="28" name="Shape 26"/>
          <p:cNvSpPr/>
          <p:nvPr/>
        </p:nvSpPr>
        <p:spPr>
          <a:xfrm>
            <a:off x="7498080" y="1188720"/>
            <a:ext cx="731520" cy="731520"/>
          </a:xfrm>
          <a:prstGeom prst="ellipse">
            <a:avLst/>
          </a:prstGeom>
          <a:solidFill>
            <a:srgbClr val="E84142"/>
          </a:solidFill>
          <a:ln/>
        </p:spPr>
      </p:sp>
      <p:sp>
        <p:nvSpPr>
          <p:cNvPr id="29" name="Text 27"/>
          <p:cNvSpPr/>
          <p:nvPr/>
        </p:nvSpPr>
        <p:spPr>
          <a:xfrm>
            <a:off x="7498080" y="11887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4</a:t>
            </a:r>
            <a:endParaRPr lang="en-US" sz="2400" dirty="0"/>
          </a:p>
        </p:txBody>
      </p:sp>
      <p:sp>
        <p:nvSpPr>
          <p:cNvPr id="30" name="Text 28"/>
          <p:cNvSpPr/>
          <p:nvPr/>
        </p:nvSpPr>
        <p:spPr>
          <a:xfrm>
            <a:off x="6858000" y="205740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確認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7040880" y="2468880"/>
            <a:ext cx="1645920" cy="365760"/>
          </a:xfrm>
          <a:prstGeom prst="roundRect">
            <a:avLst>
              <a:gd name="adj" fmla="val 12500"/>
            </a:avLst>
          </a:prstGeom>
          <a:solidFill>
            <a:srgbClr val="0D0D1A"/>
          </a:solidFill>
          <a:ln/>
        </p:spPr>
      </p:sp>
      <p:sp>
        <p:nvSpPr>
          <p:cNvPr id="32" name="Text 30"/>
          <p:cNvSpPr/>
          <p:nvPr/>
        </p:nvSpPr>
        <p:spPr>
          <a:xfrm>
            <a:off x="7040880" y="246888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Approve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858000" y="292608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CCCCC"/>
                </a:solidFill>
              </a:rPr>
              <a:t>Tx を承認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365760" y="3566160"/>
            <a:ext cx="8412480" cy="822960"/>
          </a:xfrm>
          <a:prstGeom prst="roundRect">
            <a:avLst>
              <a:gd name="adj" fmla="val 11111"/>
            </a:avLst>
          </a:prstGeom>
          <a:solidFill>
            <a:srgbClr val="2D4A3E"/>
          </a:solidFill>
          <a:ln/>
        </p:spPr>
      </p:sp>
      <p:sp>
        <p:nvSpPr>
          <p:cNvPr id="35" name="Text 33"/>
          <p:cNvSpPr/>
          <p:nvPr/>
        </p:nvSpPr>
        <p:spPr>
          <a:xfrm>
            <a:off x="457200" y="36576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1C40F"/>
                </a:solidFill>
              </a:rPr>
              <a:t>🎉 座標がブロックチェーンに保存されることを確認！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457200" y="39776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リロードしても位置が保持されていれば成功です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6A085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🎉 デモ完了！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91440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4142"/>
                </a:solidFill>
              </a:rPr>
              <a:t>作ったもの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365760" y="1280160"/>
            <a:ext cx="4114800" cy="1645920"/>
          </a:xfrm>
          <a:prstGeom prst="roundRect">
            <a:avLst>
              <a:gd name="adj" fmla="val 5556"/>
            </a:avLst>
          </a:prstGeom>
          <a:solidFill>
            <a:srgbClr val="252540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371600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A085"/>
                </a:solidFill>
              </a:rPr>
              <a:t>PositionTracker.sol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1600200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</a:rPr>
              <a:t>座標保存コントラクト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1874520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A085"/>
                </a:solidFill>
              </a:rPr>
              <a:t>Grid Game UI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2103120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</a:rPr>
              <a:t>React + CSS Grid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57200" y="2377440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A085"/>
                </a:solidFill>
              </a:rPr>
              <a:t>Wallet Integration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2606040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</a:rPr>
              <a:t>Core Wallet + ethers.js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663440" y="91440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4142"/>
                </a:solidFill>
              </a:rPr>
              <a:t>学んだこと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4663440" y="1280160"/>
            <a:ext cx="4114800" cy="1645920"/>
          </a:xfrm>
          <a:prstGeom prst="roundRect">
            <a:avLst>
              <a:gd name="adj" fmla="val 5556"/>
            </a:avLst>
          </a:prstGeom>
          <a:solidFill>
            <a:srgbClr val="252540"/>
          </a:solidFill>
          <a:ln/>
        </p:spPr>
      </p:sp>
      <p:sp>
        <p:nvSpPr>
          <p:cNvPr id="14" name="Shape 12"/>
          <p:cNvSpPr/>
          <p:nvPr/>
        </p:nvSpPr>
        <p:spPr>
          <a:xfrm>
            <a:off x="4754880" y="1371600"/>
            <a:ext cx="274320" cy="274320"/>
          </a:xfrm>
          <a:prstGeom prst="ellipse">
            <a:avLst/>
          </a:prstGeom>
          <a:solidFill>
            <a:srgbClr val="E84142"/>
          </a:solidFill>
          <a:ln/>
        </p:spPr>
      </p:sp>
      <p:sp>
        <p:nvSpPr>
          <p:cNvPr id="15" name="Text 13"/>
          <p:cNvSpPr/>
          <p:nvPr/>
        </p:nvSpPr>
        <p:spPr>
          <a:xfrm>
            <a:off x="4754880" y="137160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1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120640" y="137160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Gemini CLI で AI 駆動開発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754880" y="1755648"/>
            <a:ext cx="274320" cy="274320"/>
          </a:xfrm>
          <a:prstGeom prst="ellipse">
            <a:avLst/>
          </a:prstGeom>
          <a:solidFill>
            <a:srgbClr val="E84142"/>
          </a:solidFill>
          <a:ln/>
        </p:spPr>
      </p:sp>
      <p:sp>
        <p:nvSpPr>
          <p:cNvPr id="18" name="Text 16"/>
          <p:cNvSpPr/>
          <p:nvPr/>
        </p:nvSpPr>
        <p:spPr>
          <a:xfrm>
            <a:off x="4754880" y="175564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120640" y="1755648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スキルで専門知識を追加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754880" y="2139696"/>
            <a:ext cx="274320" cy="274320"/>
          </a:xfrm>
          <a:prstGeom prst="ellipse">
            <a:avLst/>
          </a:prstGeom>
          <a:solidFill>
            <a:srgbClr val="E84142"/>
          </a:solidFill>
          <a:ln/>
        </p:spPr>
      </p:sp>
      <p:sp>
        <p:nvSpPr>
          <p:cNvPr id="21" name="Text 19"/>
          <p:cNvSpPr/>
          <p:nvPr/>
        </p:nvSpPr>
        <p:spPr>
          <a:xfrm>
            <a:off x="4754880" y="2139696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3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120640" y="2139696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Avalanche Fuji でデプロイ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754880" y="2523744"/>
            <a:ext cx="274320" cy="274320"/>
          </a:xfrm>
          <a:prstGeom prst="ellipse">
            <a:avLst/>
          </a:prstGeom>
          <a:solidFill>
            <a:srgbClr val="E84142"/>
          </a:solidFill>
          <a:ln/>
        </p:spPr>
      </p:sp>
      <p:sp>
        <p:nvSpPr>
          <p:cNvPr id="24" name="Text 22"/>
          <p:cNvSpPr/>
          <p:nvPr/>
        </p:nvSpPr>
        <p:spPr>
          <a:xfrm>
            <a:off x="4754880" y="2523744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4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120640" y="2523744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フェーズ分割でタスク管理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65760" y="3108960"/>
            <a:ext cx="8412480" cy="1005840"/>
          </a:xfrm>
          <a:prstGeom prst="roundRect">
            <a:avLst>
              <a:gd name="adj" fmla="val 9091"/>
            </a:avLst>
          </a:prstGeom>
          <a:solidFill>
            <a:srgbClr val="2D4A3E"/>
          </a:solidFill>
          <a:ln/>
        </p:spPr>
      </p:sp>
      <p:sp>
        <p:nvSpPr>
          <p:cNvPr id="27" name="Text 25"/>
          <p:cNvSpPr/>
          <p:nvPr/>
        </p:nvSpPr>
        <p:spPr>
          <a:xfrm>
            <a:off x="457200" y="32004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1C40F"/>
                </a:solidFill>
              </a:rPr>
              <a:t>💡 ポイント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57200" y="35204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AI（Gemini CLI）+ 専門知識（Skills）+ ブロックチェーン（Avalanche）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= 短時間で本格的な dApp が作れる！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E8414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📚 クイックリファレンス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686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A085"/>
                </a:solidFill>
              </a:rPr>
              <a:t>Gemini CLI コマンド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4114800" cy="3200400"/>
          </a:xfrm>
          <a:prstGeom prst="roundRect">
            <a:avLst>
              <a:gd name="adj" fmla="val 2857"/>
            </a:avLst>
          </a:prstGeom>
          <a:solidFill>
            <a:srgbClr val="0D0D1A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234440"/>
            <a:ext cx="393192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起動オプション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88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gemini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88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gemini -m gemini-2.5-flash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88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gemini --resume [index/UUID]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88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gemini --sandbox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88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gemini --yolo</a:t>
            </a:r>
            <a:endParaRPr lang="en-US" sz="800" dirty="0"/>
          </a:p>
          <a:p>
            <a:pPr indent="0" marL="0">
              <a:buNone/>
            </a:pP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88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スラッシュコマンド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88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/help /tools /model /settings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88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/skills list|reload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88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/memory show|refresh|add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88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/chat save|resume|share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88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/compress /rewind /restore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88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/mcp /extensions</a:t>
            </a:r>
            <a:endParaRPr lang="en-US" sz="800" dirty="0"/>
          </a:p>
          <a:p>
            <a:pPr indent="0" marL="0">
              <a:buNone/>
            </a:pP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88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スキル管理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88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gemini skills install &lt;url&gt;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88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gemini skills uninstall &lt;name&gt;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88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gemini skills enable|disable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663440" y="8686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A085"/>
                </a:solidFill>
              </a:rPr>
              <a:t>参考リンク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663440" y="1188720"/>
            <a:ext cx="4114800" cy="2560320"/>
          </a:xfrm>
          <a:prstGeom prst="roundRect">
            <a:avLst>
              <a:gd name="adj" fmla="val 4348"/>
            </a:avLst>
          </a:prstGeom>
          <a:solidFill>
            <a:srgbClr val="252540"/>
          </a:solidFill>
          <a:ln/>
        </p:spPr>
      </p:sp>
      <p:sp>
        <p:nvSpPr>
          <p:cNvPr id="9" name="Text 7"/>
          <p:cNvSpPr/>
          <p:nvPr/>
        </p:nvSpPr>
        <p:spPr>
          <a:xfrm>
            <a:off x="4754880" y="1280160"/>
            <a:ext cx="1645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84142"/>
                </a:solidFill>
              </a:rPr>
              <a:t>Core Wallet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754880" y="1444752"/>
            <a:ext cx="3931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CCCCCC"/>
                </a:solidFill>
                <a:hlinkClick r:id="rId3"/>
              </a:rPr>
              <a:t>https://core.app/download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4754880" y="1664208"/>
            <a:ext cx="1645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84142"/>
                </a:solidFill>
              </a:rPr>
              <a:t>Fuji Faucet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754880" y="1828800"/>
            <a:ext cx="3931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CCCCCC"/>
                </a:solidFill>
                <a:hlinkClick r:id="rId4"/>
              </a:rPr>
              <a:t>https://build.avax.network/console/primary-network/faucet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4754880" y="2048256"/>
            <a:ext cx="1645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84142"/>
                </a:solidFill>
              </a:rPr>
              <a:t>Remix IDE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754880" y="2212848"/>
            <a:ext cx="3931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CCCCCC"/>
                </a:solidFill>
                <a:hlinkClick r:id="rId5"/>
              </a:rPr>
              <a:t>https://remix.ethereum.org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4754880" y="2432304"/>
            <a:ext cx="1645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84142"/>
                </a:solidFill>
              </a:rPr>
              <a:t>Gemini CLI Docs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754880" y="2596896"/>
            <a:ext cx="3931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CCCCCC"/>
                </a:solidFill>
                <a:hlinkClick r:id="rId6"/>
              </a:rPr>
              <a:t>https://github.com/google-gemini/gemini-cli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4754880" y="2816352"/>
            <a:ext cx="1645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84142"/>
                </a:solidFill>
              </a:rPr>
              <a:t>Skills Repo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754880" y="2980944"/>
            <a:ext cx="3931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CCCCCC"/>
                </a:solidFill>
                <a:hlinkClick r:id="rId7"/>
              </a:rPr>
              <a:t>https://github.com/CobaltSato/react-grid-game-rendering-skill</a:t>
            </a:r>
            <a:endParaRPr lang="en-US" sz="700" dirty="0"/>
          </a:p>
        </p:txBody>
      </p:sp>
      <p:sp>
        <p:nvSpPr>
          <p:cNvPr id="19" name="Text 17"/>
          <p:cNvSpPr/>
          <p:nvPr/>
        </p:nvSpPr>
        <p:spPr>
          <a:xfrm>
            <a:off x="4754880" y="3200400"/>
            <a:ext cx="1645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1C40F"/>
                </a:solidFill>
              </a:rPr>
              <a:t>Cursor Directory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754880" y="3364992"/>
            <a:ext cx="3931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CCCCCC"/>
                </a:solidFill>
                <a:hlinkClick r:id="rId8"/>
              </a:rPr>
              <a:t>https://cursor.directory (AI プロンプト・ルール集)</a:t>
            </a:r>
            <a:endParaRPr lang="en-US" sz="7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DA775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</a:rPr>
              <a:t>APPENDIX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</a:rPr>
              <a:t>Claude Code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457200" y="29260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</a:rPr>
              <a:t>Anthropic の AI コーディングアシスタント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Gemini CLI との比較 &amp; 実践ガイド</a:t>
            </a:r>
            <a:endParaRPr lang="en-US" sz="14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DA775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Claude Code とは？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8412480" cy="731520"/>
          </a:xfrm>
          <a:prstGeom prst="roundRect">
            <a:avLst>
              <a:gd name="adj" fmla="val 12500"/>
            </a:avLst>
          </a:prstGeom>
          <a:solidFill>
            <a:srgbClr val="252540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0058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Anthropic 公式の AI コーディングアシスタント CLI ツール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12801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CCCCC"/>
                </a:solidFill>
              </a:rPr>
              <a:t>ファイル編集、コード生成、テスト実行、Git 操作などをターミナルから Claude と対話しながら実行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65760" y="1828800"/>
            <a:ext cx="2651760" cy="1371600"/>
          </a:xfrm>
          <a:prstGeom prst="roundRect">
            <a:avLst>
              <a:gd name="adj" fmla="val 6667"/>
            </a:avLst>
          </a:prstGeom>
          <a:solidFill>
            <a:srgbClr val="252540"/>
          </a:solidFill>
          <a:ln/>
        </p:spPr>
      </p:sp>
      <p:sp>
        <p:nvSpPr>
          <p:cNvPr id="8" name="Text 6"/>
          <p:cNvSpPr/>
          <p:nvPr/>
        </p:nvSpPr>
        <p:spPr>
          <a:xfrm>
            <a:off x="365760" y="187452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📝</a:t>
            </a:r>
            <a:r>
              <a:rPr lang="en-US" sz="1100" b="1" dirty="0">
                <a:solidFill>
                  <a:srgbClr val="DA7756"/>
                </a:solidFill>
              </a:rPr>
              <a:t> CLAUDE.md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65760" y="2194560"/>
            <a:ext cx="2651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プロジェクトのルール・指示を定義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65760" y="2423160"/>
            <a:ext cx="2651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6A085"/>
                </a:solidFill>
              </a:rPr>
              <a:t>使い方: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365760" y="260604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CCCCCC"/>
                </a:solidFill>
              </a:rPr>
              <a:t>プロジェクトルートに配置で自動読込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CCCCCC"/>
                </a:solidFill>
                <a:latin typeface="Courier New" pitchFamily="34" charset="0"/>
              </a:rPr>
              <a:t>./CLAUDE.md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CCCCCC"/>
                </a:solidFill>
                <a:latin typeface="Courier New" pitchFamily="34" charset="0"/>
              </a:rPr>
              <a:t>.claude/rules/*.md</a:t>
            </a:r>
            <a:endParaRPr lang="en-US" sz="700" dirty="0"/>
          </a:p>
        </p:txBody>
      </p:sp>
      <p:sp>
        <p:nvSpPr>
          <p:cNvPr id="12" name="Shape 10"/>
          <p:cNvSpPr/>
          <p:nvPr/>
        </p:nvSpPr>
        <p:spPr>
          <a:xfrm>
            <a:off x="3200400" y="1828800"/>
            <a:ext cx="2651760" cy="1371600"/>
          </a:xfrm>
          <a:prstGeom prst="roundRect">
            <a:avLst>
              <a:gd name="adj" fmla="val 6667"/>
            </a:avLst>
          </a:prstGeom>
          <a:solidFill>
            <a:srgbClr val="252540"/>
          </a:solidFill>
          <a:ln/>
        </p:spPr>
      </p:sp>
      <p:sp>
        <p:nvSpPr>
          <p:cNvPr id="13" name="Text 11"/>
          <p:cNvSpPr/>
          <p:nvPr/>
        </p:nvSpPr>
        <p:spPr>
          <a:xfrm>
            <a:off x="3200400" y="187452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⚡</a:t>
            </a:r>
            <a:r>
              <a:rPr lang="en-US" sz="1100" b="1" dirty="0">
                <a:solidFill>
                  <a:srgbClr val="DA7756"/>
                </a:solidFill>
              </a:rPr>
              <a:t> Commands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200400" y="2194560"/>
            <a:ext cx="2651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/plan /tdd などカスタムコマンド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200400" y="2423160"/>
            <a:ext cx="2651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6A085"/>
                </a:solidFill>
              </a:rPr>
              <a:t>使い方: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3200400" y="260604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CCCCCC"/>
                </a:solidFill>
              </a:rPr>
              <a:t>.md を置くとコマンド化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CCCCCC"/>
                </a:solidFill>
                <a:latin typeface="Courier New" pitchFamily="34" charset="0"/>
              </a:rPr>
              <a:t>.claude/commands/plan.md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CCCCCC"/>
                </a:solidFill>
              </a:rPr>
              <a:t>→ /plan で実行可能に</a:t>
            </a:r>
            <a:endParaRPr lang="en-US" sz="700" dirty="0"/>
          </a:p>
        </p:txBody>
      </p:sp>
      <p:sp>
        <p:nvSpPr>
          <p:cNvPr id="17" name="Shape 15"/>
          <p:cNvSpPr/>
          <p:nvPr/>
        </p:nvSpPr>
        <p:spPr>
          <a:xfrm>
            <a:off x="6035040" y="1828800"/>
            <a:ext cx="2651760" cy="1371600"/>
          </a:xfrm>
          <a:prstGeom prst="roundRect">
            <a:avLst>
              <a:gd name="adj" fmla="val 6667"/>
            </a:avLst>
          </a:prstGeom>
          <a:solidFill>
            <a:srgbClr val="252540"/>
          </a:solidFill>
          <a:ln/>
        </p:spPr>
      </p:sp>
      <p:sp>
        <p:nvSpPr>
          <p:cNvPr id="18" name="Text 16"/>
          <p:cNvSpPr/>
          <p:nvPr/>
        </p:nvSpPr>
        <p:spPr>
          <a:xfrm>
            <a:off x="6035040" y="187452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🤖</a:t>
            </a:r>
            <a:r>
              <a:rPr lang="en-US" sz="1100" b="1" dirty="0">
                <a:solidFill>
                  <a:srgbClr val="DA7756"/>
                </a:solidFill>
              </a:rPr>
              <a:t> Agents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035040" y="2194560"/>
            <a:ext cx="2651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専門特化サブエージェント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035040" y="2423160"/>
            <a:ext cx="2651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6A085"/>
                </a:solidFill>
              </a:rPr>
              <a:t>使い方: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6035040" y="260604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CCCCCC"/>
                </a:solidFill>
              </a:rPr>
              <a:t>.md を置くと Task で呼出可能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CCCCCC"/>
                </a:solidFill>
                <a:latin typeface="Courier New" pitchFamily="34" charset="0"/>
              </a:rPr>
              <a:t>.claude/agents/planner.md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CCCCCC"/>
                </a:solidFill>
              </a:rPr>
              <a:t>→ 並列実行・専門タスク委任</a:t>
            </a:r>
            <a:endParaRPr lang="en-US" sz="700" dirty="0"/>
          </a:p>
        </p:txBody>
      </p:sp>
      <p:sp>
        <p:nvSpPr>
          <p:cNvPr id="22" name="Shape 20"/>
          <p:cNvSpPr/>
          <p:nvPr/>
        </p:nvSpPr>
        <p:spPr>
          <a:xfrm>
            <a:off x="365760" y="3383280"/>
            <a:ext cx="2651760" cy="1371600"/>
          </a:xfrm>
          <a:prstGeom prst="roundRect">
            <a:avLst>
              <a:gd name="adj" fmla="val 6667"/>
            </a:avLst>
          </a:prstGeom>
          <a:solidFill>
            <a:srgbClr val="252540"/>
          </a:solidFill>
          <a:ln/>
        </p:spPr>
      </p:sp>
      <p:sp>
        <p:nvSpPr>
          <p:cNvPr id="23" name="Text 21"/>
          <p:cNvSpPr/>
          <p:nvPr/>
        </p:nvSpPr>
        <p:spPr>
          <a:xfrm>
            <a:off x="365760" y="342900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🎣</a:t>
            </a:r>
            <a:r>
              <a:rPr lang="en-US" sz="1100" b="1" dirty="0">
                <a:solidFill>
                  <a:srgbClr val="DA7756"/>
                </a:solidFill>
              </a:rPr>
              <a:t> Hooks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65760" y="3749040"/>
            <a:ext cx="2651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ツール実行前後の自動処理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65760" y="3977640"/>
            <a:ext cx="2651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6A085"/>
                </a:solidFill>
              </a:rPr>
              <a:t>使い方: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365760" y="416052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CCCCCC"/>
                </a:solidFill>
              </a:rPr>
              <a:t>settings.json に定義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CCCCCC"/>
                </a:solidFill>
                <a:latin typeface="Courier New" pitchFamily="34" charset="0"/>
              </a:rPr>
              <a:t>.claude/settings.json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CCCCCC"/>
                </a:solidFill>
              </a:rPr>
              <a:t>→ 自動フォーマット、型チェック等</a:t>
            </a:r>
            <a:endParaRPr lang="en-US" sz="700" dirty="0"/>
          </a:p>
        </p:txBody>
      </p:sp>
      <p:sp>
        <p:nvSpPr>
          <p:cNvPr id="27" name="Shape 25"/>
          <p:cNvSpPr/>
          <p:nvPr/>
        </p:nvSpPr>
        <p:spPr>
          <a:xfrm>
            <a:off x="3200400" y="3383280"/>
            <a:ext cx="2651760" cy="1371600"/>
          </a:xfrm>
          <a:prstGeom prst="roundRect">
            <a:avLst>
              <a:gd name="adj" fmla="val 6667"/>
            </a:avLst>
          </a:prstGeom>
          <a:solidFill>
            <a:srgbClr val="252540"/>
          </a:solidFill>
          <a:ln/>
        </p:spPr>
      </p:sp>
      <p:sp>
        <p:nvSpPr>
          <p:cNvPr id="28" name="Text 26"/>
          <p:cNvSpPr/>
          <p:nvPr/>
        </p:nvSpPr>
        <p:spPr>
          <a:xfrm>
            <a:off x="3200400" y="342900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🎯</a:t>
            </a:r>
            <a:r>
              <a:rPr lang="en-US" sz="1100" b="1" dirty="0">
                <a:solidFill>
                  <a:srgbClr val="DA7756"/>
                </a:solidFill>
              </a:rPr>
              <a:t> Skills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3200400" y="3749040"/>
            <a:ext cx="2651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再利用可能なワークフロー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3200400" y="3977640"/>
            <a:ext cx="2651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6A085"/>
                </a:solidFill>
              </a:rPr>
              <a:t>使い方: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3200400" y="416052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CCCCCC"/>
                </a:solidFill>
              </a:rPr>
              <a:t>.skill を置くと自動有効化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CCCCCC"/>
                </a:solidFill>
                <a:latin typeface="Courier New" pitchFamily="34" charset="0"/>
              </a:rPr>
              <a:t>.claude/skills/*.skill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CCCCCC"/>
                </a:solidFill>
              </a:rPr>
              <a:t>→ Gemini と相互変換可能</a:t>
            </a:r>
            <a:endParaRPr lang="en-US" sz="700" dirty="0"/>
          </a:p>
        </p:txBody>
      </p:sp>
      <p:sp>
        <p:nvSpPr>
          <p:cNvPr id="32" name="Shape 30"/>
          <p:cNvSpPr/>
          <p:nvPr/>
        </p:nvSpPr>
        <p:spPr>
          <a:xfrm>
            <a:off x="6035040" y="3383280"/>
            <a:ext cx="2651760" cy="1371600"/>
          </a:xfrm>
          <a:prstGeom prst="roundRect">
            <a:avLst>
              <a:gd name="adj" fmla="val 6667"/>
            </a:avLst>
          </a:prstGeom>
          <a:solidFill>
            <a:srgbClr val="252540"/>
          </a:solidFill>
          <a:ln/>
        </p:spPr>
      </p:sp>
      <p:sp>
        <p:nvSpPr>
          <p:cNvPr id="33" name="Text 31"/>
          <p:cNvSpPr/>
          <p:nvPr/>
        </p:nvSpPr>
        <p:spPr>
          <a:xfrm>
            <a:off x="6035040" y="342900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🔌</a:t>
            </a:r>
            <a:r>
              <a:rPr lang="en-US" sz="1100" b="1" dirty="0">
                <a:solidFill>
                  <a:srgbClr val="DA7756"/>
                </a:solidFill>
              </a:rPr>
              <a:t> MCP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035040" y="3749040"/>
            <a:ext cx="2651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外部サービス連携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6035040" y="3977640"/>
            <a:ext cx="2651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6A085"/>
                </a:solidFill>
              </a:rPr>
              <a:t>使い方: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6035040" y="416052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CCCCCC"/>
                </a:solidFill>
              </a:rPr>
              <a:t>JSON に設定で接続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CCCCCC"/>
                </a:solidFill>
                <a:latin typeface="Courier New" pitchFamily="34" charset="0"/>
              </a:rPr>
              <a:t>~/.claude.json (mcpServers)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CCCCCC"/>
                </a:solidFill>
              </a:rPr>
              <a:t>→ Playwright, Context7 等</a:t>
            </a:r>
            <a:endParaRPr lang="en-US" sz="7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DA775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Gemini CLI vs Claude Code 比較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8412480" cy="411480"/>
          </a:xfrm>
          <a:prstGeom prst="roundRect">
            <a:avLst>
              <a:gd name="adj" fmla="val 11111"/>
            </a:avLst>
          </a:prstGeom>
          <a:solidFill>
            <a:srgbClr val="333355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91440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6A085"/>
                </a:solidFill>
              </a:rPr>
              <a:t>機能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2377440" y="91440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6A085"/>
                </a:solidFill>
              </a:rPr>
              <a:t>Gemini CLI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754880" y="91440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A7756"/>
                </a:solidFill>
              </a:rPr>
              <a:t>Claude Code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132320" y="91440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CCCCC"/>
                </a:solidFill>
              </a:rPr>
              <a:t>備考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65760" y="1417320"/>
            <a:ext cx="8412480" cy="384048"/>
          </a:xfrm>
          <a:prstGeom prst="roundRect">
            <a:avLst>
              <a:gd name="adj" fmla="val 11905"/>
            </a:avLst>
          </a:prstGeom>
          <a:solidFill>
            <a:srgbClr val="252540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1417320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コンテキストファイル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2377440" y="1417320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GEMINI.md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754880" y="1417320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A775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CLAUDE.md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7132320" y="1417320"/>
            <a:ext cx="1645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CCCCC"/>
                </a:solidFill>
              </a:rPr>
              <a:t>同じ仕組み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365760" y="1856232"/>
            <a:ext cx="8412480" cy="384048"/>
          </a:xfrm>
          <a:prstGeom prst="roundRect">
            <a:avLst>
              <a:gd name="adj" fmla="val 11905"/>
            </a:avLst>
          </a:prstGeom>
          <a:solidFill>
            <a:srgbClr val="1E1E3A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1856232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スキル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2377440" y="1856232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SKILL.md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754880" y="1856232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A775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SKILL.md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7132320" y="1856232"/>
            <a:ext cx="1645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CCCCC"/>
                </a:solidFill>
              </a:rPr>
              <a:t>変換可能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365760" y="2295144"/>
            <a:ext cx="8412480" cy="384048"/>
          </a:xfrm>
          <a:prstGeom prst="roundRect">
            <a:avLst>
              <a:gd name="adj" fmla="val 11905"/>
            </a:avLst>
          </a:prstGeom>
          <a:solidFill>
            <a:srgbClr val="252540"/>
          </a:solidFill>
          <a:ln/>
        </p:spPr>
      </p:sp>
      <p:sp>
        <p:nvSpPr>
          <p:cNvPr id="20" name="Text 18"/>
          <p:cNvSpPr/>
          <p:nvPr/>
        </p:nvSpPr>
        <p:spPr>
          <a:xfrm>
            <a:off x="457200" y="2295144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フック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2377440" y="2295144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(なし)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754880" y="2295144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A775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PreToolUse / PostToolUse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7132320" y="2295144"/>
            <a:ext cx="1645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CCCCC"/>
                </a:solidFill>
              </a:rPr>
              <a:t>Claude のみ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365760" y="2734056"/>
            <a:ext cx="8412480" cy="384048"/>
          </a:xfrm>
          <a:prstGeom prst="roundRect">
            <a:avLst>
              <a:gd name="adj" fmla="val 11905"/>
            </a:avLst>
          </a:prstGeom>
          <a:solidFill>
            <a:srgbClr val="1E1E3A"/>
          </a:solidFill>
          <a:ln/>
        </p:spPr>
      </p:sp>
      <p:sp>
        <p:nvSpPr>
          <p:cNvPr id="25" name="Text 23"/>
          <p:cNvSpPr/>
          <p:nvPr/>
        </p:nvSpPr>
        <p:spPr>
          <a:xfrm>
            <a:off x="457200" y="2734056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MCP サポート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2377440" y="2734056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✓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754880" y="2734056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A775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✓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7132320" y="2734056"/>
            <a:ext cx="1645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CCCCC"/>
                </a:solidFill>
              </a:rPr>
              <a:t>同じ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365760" y="3172968"/>
            <a:ext cx="8412480" cy="384048"/>
          </a:xfrm>
          <a:prstGeom prst="roundRect">
            <a:avLst>
              <a:gd name="adj" fmla="val 11905"/>
            </a:avLst>
          </a:prstGeom>
          <a:solidFill>
            <a:srgbClr val="252540"/>
          </a:solidFill>
          <a:ln/>
        </p:spPr>
      </p:sp>
      <p:sp>
        <p:nvSpPr>
          <p:cNvPr id="30" name="Text 28"/>
          <p:cNvSpPr/>
          <p:nvPr/>
        </p:nvSpPr>
        <p:spPr>
          <a:xfrm>
            <a:off x="457200" y="3172968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スラッシュコマンド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2377440" y="3172968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/skills, /memory 等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4754880" y="3172968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A775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/plan, /tdd 等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7132320" y="3172968"/>
            <a:ext cx="1645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CCCCC"/>
                </a:solidFill>
              </a:rPr>
              <a:t>異なるコマンド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365760" y="3611880"/>
            <a:ext cx="8412480" cy="384048"/>
          </a:xfrm>
          <a:prstGeom prst="roundRect">
            <a:avLst>
              <a:gd name="adj" fmla="val 11905"/>
            </a:avLst>
          </a:prstGeom>
          <a:solidFill>
            <a:srgbClr val="1E1E3A"/>
          </a:solidFill>
          <a:ln/>
        </p:spPr>
      </p:sp>
      <p:sp>
        <p:nvSpPr>
          <p:cNvPr id="35" name="Text 33"/>
          <p:cNvSpPr/>
          <p:nvPr/>
        </p:nvSpPr>
        <p:spPr>
          <a:xfrm>
            <a:off x="457200" y="3611880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エージェント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2377440" y="3611880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(スキルで実現)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4754880" y="3611880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A775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.claude/agents/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7132320" y="3611880"/>
            <a:ext cx="1645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CCCCC"/>
                </a:solidFill>
              </a:rPr>
              <a:t>Claude は専用機能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365760" y="4050792"/>
            <a:ext cx="8412480" cy="384048"/>
          </a:xfrm>
          <a:prstGeom prst="roundRect">
            <a:avLst>
              <a:gd name="adj" fmla="val 11905"/>
            </a:avLst>
          </a:prstGeom>
          <a:solidFill>
            <a:srgbClr val="252540"/>
          </a:solidFill>
          <a:ln/>
        </p:spPr>
      </p:sp>
      <p:sp>
        <p:nvSpPr>
          <p:cNvPr id="40" name="Text 38"/>
          <p:cNvSpPr/>
          <p:nvPr/>
        </p:nvSpPr>
        <p:spPr>
          <a:xfrm>
            <a:off x="457200" y="4050792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ルール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2377440" y="4050792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(GEMINI.md)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4754880" y="4050792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A775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.claude/rules/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7132320" y="4050792"/>
            <a:ext cx="1645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CCCCC"/>
                </a:solidFill>
              </a:rPr>
              <a:t>Claude は専用機能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365760" y="4572000"/>
            <a:ext cx="8412480" cy="365760"/>
          </a:xfrm>
          <a:prstGeom prst="roundRect">
            <a:avLst>
              <a:gd name="adj" fmla="val 20000"/>
            </a:avLst>
          </a:prstGeom>
          <a:solidFill>
            <a:srgbClr val="2D4A3E"/>
          </a:solidFill>
          <a:ln/>
        </p:spPr>
      </p:sp>
      <p:sp>
        <p:nvSpPr>
          <p:cNvPr id="45" name="Text 43"/>
          <p:cNvSpPr/>
          <p:nvPr/>
        </p:nvSpPr>
        <p:spPr>
          <a:xfrm>
            <a:off x="457200" y="45720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💡 Skill-Creator (Gemini標準) / /skill-create (Anthropic) で相互変換可能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DA775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Claude Code Hooks システム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8412480" cy="640080"/>
          </a:xfrm>
          <a:prstGeom prst="roundRect">
            <a:avLst>
              <a:gd name="adj" fmla="val 14286"/>
            </a:avLst>
          </a:prstGeom>
          <a:solidFill>
            <a:srgbClr val="2D4A3E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00584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1C40F"/>
                </a:solidFill>
              </a:rPr>
              <a:t>💡 Hooks = ツール実行の前後に自動実行されるイベント駆動スクリプト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128016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セキュリティチェック、フォーマット、ログ記録などを自動化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65760" y="1737360"/>
            <a:ext cx="2011680" cy="1645920"/>
          </a:xfrm>
          <a:prstGeom prst="roundRect">
            <a:avLst>
              <a:gd name="adj" fmla="val 5556"/>
            </a:avLst>
          </a:prstGeom>
          <a:solidFill>
            <a:srgbClr val="252540"/>
          </a:solidFill>
          <a:ln/>
        </p:spPr>
      </p:sp>
      <p:sp>
        <p:nvSpPr>
          <p:cNvPr id="8" name="Shape 6"/>
          <p:cNvSpPr/>
          <p:nvPr/>
        </p:nvSpPr>
        <p:spPr>
          <a:xfrm>
            <a:off x="640080" y="1828800"/>
            <a:ext cx="1463040" cy="320040"/>
          </a:xfrm>
          <a:prstGeom prst="roundRect">
            <a:avLst>
              <a:gd name="adj" fmla="val 48571"/>
            </a:avLst>
          </a:prstGeom>
          <a:solidFill>
            <a:srgbClr val="16A085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182880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PreToolUse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65760" y="224028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ツール実行前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65760" y="256032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ファイル書き込み前に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セキュリティチェック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560320" y="1737360"/>
            <a:ext cx="2011680" cy="1645920"/>
          </a:xfrm>
          <a:prstGeom prst="roundRect">
            <a:avLst>
              <a:gd name="adj" fmla="val 5556"/>
            </a:avLst>
          </a:prstGeom>
          <a:solidFill>
            <a:srgbClr val="252540"/>
          </a:solidFill>
          <a:ln/>
        </p:spPr>
      </p:sp>
      <p:sp>
        <p:nvSpPr>
          <p:cNvPr id="13" name="Shape 11"/>
          <p:cNvSpPr/>
          <p:nvPr/>
        </p:nvSpPr>
        <p:spPr>
          <a:xfrm>
            <a:off x="2834640" y="1828800"/>
            <a:ext cx="1463040" cy="320040"/>
          </a:xfrm>
          <a:prstGeom prst="roundRect">
            <a:avLst>
              <a:gd name="adj" fmla="val 48571"/>
            </a:avLst>
          </a:prstGeom>
          <a:solidFill>
            <a:srgbClr val="3498DB"/>
          </a:solidFill>
          <a:ln/>
        </p:spPr>
      </p:sp>
      <p:sp>
        <p:nvSpPr>
          <p:cNvPr id="14" name="Text 12"/>
          <p:cNvSpPr/>
          <p:nvPr/>
        </p:nvSpPr>
        <p:spPr>
          <a:xfrm>
            <a:off x="2834640" y="182880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PostToolUse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560320" y="224028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ツール実行後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560320" y="256032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編集後に Prettier で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自動フォーマット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754880" y="1737360"/>
            <a:ext cx="2011680" cy="1645920"/>
          </a:xfrm>
          <a:prstGeom prst="roundRect">
            <a:avLst>
              <a:gd name="adj" fmla="val 5556"/>
            </a:avLst>
          </a:prstGeom>
          <a:solidFill>
            <a:srgbClr val="252540"/>
          </a:solidFill>
          <a:ln/>
        </p:spPr>
      </p:sp>
      <p:sp>
        <p:nvSpPr>
          <p:cNvPr id="18" name="Shape 16"/>
          <p:cNvSpPr/>
          <p:nvPr/>
        </p:nvSpPr>
        <p:spPr>
          <a:xfrm>
            <a:off x="5029200" y="1828800"/>
            <a:ext cx="1463040" cy="320040"/>
          </a:xfrm>
          <a:prstGeom prst="roundRect">
            <a:avLst>
              <a:gd name="adj" fmla="val 48571"/>
            </a:avLst>
          </a:prstGeom>
          <a:solidFill>
            <a:srgbClr val="F1C40F"/>
          </a:solidFill>
          <a:ln/>
        </p:spPr>
      </p:sp>
      <p:sp>
        <p:nvSpPr>
          <p:cNvPr id="19" name="Text 17"/>
          <p:cNvSpPr/>
          <p:nvPr/>
        </p:nvSpPr>
        <p:spPr>
          <a:xfrm>
            <a:off x="5029200" y="182880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Stop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754880" y="224028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セッション終了時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754880" y="256032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console.log の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残留チェック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6949440" y="1737360"/>
            <a:ext cx="2011680" cy="1645920"/>
          </a:xfrm>
          <a:prstGeom prst="roundRect">
            <a:avLst>
              <a:gd name="adj" fmla="val 5556"/>
            </a:avLst>
          </a:prstGeom>
          <a:solidFill>
            <a:srgbClr val="252540"/>
          </a:solidFill>
          <a:ln/>
        </p:spPr>
      </p:sp>
      <p:sp>
        <p:nvSpPr>
          <p:cNvPr id="23" name="Shape 21"/>
          <p:cNvSpPr/>
          <p:nvPr/>
        </p:nvSpPr>
        <p:spPr>
          <a:xfrm>
            <a:off x="7223760" y="1828800"/>
            <a:ext cx="1463040" cy="320040"/>
          </a:xfrm>
          <a:prstGeom prst="roundRect">
            <a:avLst>
              <a:gd name="adj" fmla="val 48571"/>
            </a:avLst>
          </a:prstGeom>
          <a:solidFill>
            <a:srgbClr val="E84142"/>
          </a:solidFill>
          <a:ln/>
        </p:spPr>
      </p:sp>
      <p:sp>
        <p:nvSpPr>
          <p:cNvPr id="24" name="Text 22"/>
          <p:cNvSpPr/>
          <p:nvPr/>
        </p:nvSpPr>
        <p:spPr>
          <a:xfrm>
            <a:off x="7223760" y="182880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SessionStart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949440" y="224028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セッション開始時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949440" y="256032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プロジェクト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コンテキスト読み込み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365760" y="35661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A085"/>
                </a:solidFill>
              </a:rPr>
              <a:t>PreToolUse フック例（JSON）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365760" y="3886200"/>
            <a:ext cx="8412480" cy="1005840"/>
          </a:xfrm>
          <a:prstGeom prst="roundRect">
            <a:avLst>
              <a:gd name="adj" fmla="val 9091"/>
            </a:avLst>
          </a:prstGeom>
          <a:solidFill>
            <a:srgbClr val="0D0D1A"/>
          </a:solidFill>
          <a:ln/>
        </p:spPr>
      </p:sp>
      <p:sp>
        <p:nvSpPr>
          <p:cNvPr id="29" name="Text 27"/>
          <p:cNvSpPr/>
          <p:nvPr/>
        </p:nvSpPr>
        <p:spPr>
          <a:xfrm>
            <a:off x="457200" y="39319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88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"PreToolUse": [{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88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"matcher": "Write|Edit",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88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"hooks": [{ "type": "prompt", "prompt": "Validate file write safety. Check: system paths, credentials. Return approve or deny." }]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88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}]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88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8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DA775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Claude Code スラッシュコマンド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868680"/>
            <a:ext cx="8412480" cy="457200"/>
          </a:xfrm>
          <a:prstGeom prst="roundRect">
            <a:avLst>
              <a:gd name="adj" fmla="val 16000"/>
            </a:avLst>
          </a:prstGeom>
          <a:solidFill>
            <a:srgbClr val="2D4A3E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💡 .claude/commands/ にカスタムコマンドを定義可能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141732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A7756"/>
                </a:solidFill>
              </a:rPr>
              <a:t>開発ワークフロー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1737360"/>
            <a:ext cx="2743200" cy="3017520"/>
          </a:xfrm>
          <a:prstGeom prst="roundRect">
            <a:avLst>
              <a:gd name="adj" fmla="val 3333"/>
            </a:avLst>
          </a:prstGeom>
          <a:solidFill>
            <a:srgbClr val="252540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82880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/plan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57200" y="2029968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実装計画を作成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57200" y="228600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/tdd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57200" y="2487168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テスト駆動開発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57200" y="274320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/code-review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57200" y="2944368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コードレビュー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57200" y="320040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/build-fix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57200" y="3401568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ビルドエラー修正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57200" y="365760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/e2e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57200" y="3858768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E2E テスト生成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411480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/verify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57200" y="4315968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検証ループ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291840" y="141732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A7756"/>
                </a:solidFill>
              </a:rPr>
              <a:t>コード品質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291840" y="1737360"/>
            <a:ext cx="2743200" cy="3017520"/>
          </a:xfrm>
          <a:prstGeom prst="roundRect">
            <a:avLst>
              <a:gd name="adj" fmla="val 3333"/>
            </a:avLst>
          </a:prstGeom>
          <a:solidFill>
            <a:srgbClr val="252540"/>
          </a:solidFill>
          <a:ln/>
        </p:spPr>
      </p:sp>
      <p:sp>
        <p:nvSpPr>
          <p:cNvPr id="22" name="Text 20"/>
          <p:cNvSpPr/>
          <p:nvPr/>
        </p:nvSpPr>
        <p:spPr>
          <a:xfrm>
            <a:off x="3383280" y="182880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/test-coverage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3383280" y="2029968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カバレッジ分析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3383280" y="228600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/refactor-clean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383280" y="2487168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不要コード削除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383280" y="274320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/security-review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3383280" y="2944368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セキュリティチェック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3383280" y="320040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/update-docs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3383280" y="3401568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ドキュメント更新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3383280" y="365760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/update-codemaps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3383280" y="3858768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コードマップ更新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3383280" y="411480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/checkpoint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3383280" y="4315968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状態保存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6217920" y="141732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A7756"/>
                </a:solidFill>
              </a:rPr>
              <a:t>システム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6217920" y="1737360"/>
            <a:ext cx="2743200" cy="3017520"/>
          </a:xfrm>
          <a:prstGeom prst="roundRect">
            <a:avLst>
              <a:gd name="adj" fmla="val 3333"/>
            </a:avLst>
          </a:prstGeom>
          <a:solidFill>
            <a:srgbClr val="252540"/>
          </a:solidFill>
          <a:ln/>
        </p:spPr>
      </p:sp>
      <p:sp>
        <p:nvSpPr>
          <p:cNvPr id="36" name="Text 34"/>
          <p:cNvSpPr/>
          <p:nvPr/>
        </p:nvSpPr>
        <p:spPr>
          <a:xfrm>
            <a:off x="6309360" y="182880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/help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6309360" y="2029968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ヘルプ表示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6309360" y="228600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/mcp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6309360" y="2487168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MCP サーバー管理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6309360" y="274320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/context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6309360" y="2944368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コンテキスト管理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6309360" y="320040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/clear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6309360" y="3401568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コンテキストクリア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6309360" y="365760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/skill-create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6309360" y="3858768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スキル作成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6309360" y="411480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/orchestrate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6309360" y="4315968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マルチエージェント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DA775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Claude Code エージェント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8412480" cy="640080"/>
          </a:xfrm>
          <a:prstGeom prst="roundRect">
            <a:avLst>
              <a:gd name="adj" fmla="val 14286"/>
            </a:avLst>
          </a:prstGeom>
          <a:solidFill>
            <a:srgbClr val="2D4A3E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00584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1C40F"/>
                </a:solidFill>
              </a:rPr>
              <a:t>💡 各エージェントは必要最小限のツールだけを持つ = 高速で正確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128016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.claude/agents/ にカスタムエージェントを定義可能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65760" y="1737360"/>
            <a:ext cx="2743200" cy="640080"/>
          </a:xfrm>
          <a:prstGeom prst="roundRect">
            <a:avLst>
              <a:gd name="adj" fmla="val 11429"/>
            </a:avLst>
          </a:prstGeom>
          <a:solidFill>
            <a:srgbClr val="252540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73736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A775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planner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7200" y="205740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実装計画・要件分析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291840" y="1737360"/>
            <a:ext cx="2743200" cy="640080"/>
          </a:xfrm>
          <a:prstGeom prst="roundRect">
            <a:avLst>
              <a:gd name="adj" fmla="val 11429"/>
            </a:avLst>
          </a:prstGeom>
          <a:solidFill>
            <a:srgbClr val="252540"/>
          </a:solidFill>
          <a:ln/>
        </p:spPr>
      </p:sp>
      <p:sp>
        <p:nvSpPr>
          <p:cNvPr id="11" name="Text 9"/>
          <p:cNvSpPr/>
          <p:nvPr/>
        </p:nvSpPr>
        <p:spPr>
          <a:xfrm>
            <a:off x="3383280" y="173736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A775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architect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383280" y="205740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システム設計・アーキテクチャ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217920" y="1737360"/>
            <a:ext cx="2743200" cy="640080"/>
          </a:xfrm>
          <a:prstGeom prst="roundRect">
            <a:avLst>
              <a:gd name="adj" fmla="val 11429"/>
            </a:avLst>
          </a:prstGeom>
          <a:solidFill>
            <a:srgbClr val="252540"/>
          </a:solidFill>
          <a:ln/>
        </p:spPr>
      </p:sp>
      <p:sp>
        <p:nvSpPr>
          <p:cNvPr id="14" name="Text 12"/>
          <p:cNvSpPr/>
          <p:nvPr/>
        </p:nvSpPr>
        <p:spPr>
          <a:xfrm>
            <a:off x="6309360" y="173736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A775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tdd-guide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309360" y="205740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テスト駆動開発ガイダンス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65760" y="2468880"/>
            <a:ext cx="2743200" cy="640080"/>
          </a:xfrm>
          <a:prstGeom prst="roundRect">
            <a:avLst>
              <a:gd name="adj" fmla="val 11429"/>
            </a:avLst>
          </a:prstGeom>
          <a:solidFill>
            <a:srgbClr val="252540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246888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A775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code-reviewer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57200" y="278892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コード品質・セキュリティ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291840" y="2468880"/>
            <a:ext cx="2743200" cy="640080"/>
          </a:xfrm>
          <a:prstGeom prst="roundRect">
            <a:avLst>
              <a:gd name="adj" fmla="val 11429"/>
            </a:avLst>
          </a:prstGeom>
          <a:solidFill>
            <a:srgbClr val="252540"/>
          </a:solidFill>
          <a:ln/>
        </p:spPr>
      </p:sp>
      <p:sp>
        <p:nvSpPr>
          <p:cNvPr id="20" name="Text 18"/>
          <p:cNvSpPr/>
          <p:nvPr/>
        </p:nvSpPr>
        <p:spPr>
          <a:xfrm>
            <a:off x="3383280" y="246888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A775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security-reviewer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383280" y="278892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脆弱性分析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6217920" y="2468880"/>
            <a:ext cx="2743200" cy="640080"/>
          </a:xfrm>
          <a:prstGeom prst="roundRect">
            <a:avLst>
              <a:gd name="adj" fmla="val 11429"/>
            </a:avLst>
          </a:prstGeom>
          <a:solidFill>
            <a:srgbClr val="252540"/>
          </a:solidFill>
          <a:ln/>
        </p:spPr>
      </p:sp>
      <p:sp>
        <p:nvSpPr>
          <p:cNvPr id="23" name="Text 21"/>
          <p:cNvSpPr/>
          <p:nvPr/>
        </p:nvSpPr>
        <p:spPr>
          <a:xfrm>
            <a:off x="6309360" y="246888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A775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build-error-resolver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309360" y="278892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ビルドエラー診断・修正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65760" y="3200400"/>
            <a:ext cx="2743200" cy="640080"/>
          </a:xfrm>
          <a:prstGeom prst="roundRect">
            <a:avLst>
              <a:gd name="adj" fmla="val 11429"/>
            </a:avLst>
          </a:prstGeom>
          <a:solidFill>
            <a:srgbClr val="252540"/>
          </a:solidFill>
          <a:ln/>
        </p:spPr>
      </p:sp>
      <p:sp>
        <p:nvSpPr>
          <p:cNvPr id="26" name="Text 24"/>
          <p:cNvSpPr/>
          <p:nvPr/>
        </p:nvSpPr>
        <p:spPr>
          <a:xfrm>
            <a:off x="457200" y="320040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A775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e2e-runner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57200" y="352044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Playwright E2E テスト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3291840" y="3200400"/>
            <a:ext cx="2743200" cy="640080"/>
          </a:xfrm>
          <a:prstGeom prst="roundRect">
            <a:avLst>
              <a:gd name="adj" fmla="val 11429"/>
            </a:avLst>
          </a:prstGeom>
          <a:solidFill>
            <a:srgbClr val="252540"/>
          </a:solidFill>
          <a:ln/>
        </p:spPr>
      </p:sp>
      <p:sp>
        <p:nvSpPr>
          <p:cNvPr id="29" name="Text 27"/>
          <p:cNvSpPr/>
          <p:nvPr/>
        </p:nvSpPr>
        <p:spPr>
          <a:xfrm>
            <a:off x="3383280" y="320040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A775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refactor-cleaner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3383280" y="352044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デッドコード削除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6217920" y="3200400"/>
            <a:ext cx="2743200" cy="640080"/>
          </a:xfrm>
          <a:prstGeom prst="roundRect">
            <a:avLst>
              <a:gd name="adj" fmla="val 11429"/>
            </a:avLst>
          </a:prstGeom>
          <a:solidFill>
            <a:srgbClr val="252540"/>
          </a:solidFill>
          <a:ln/>
        </p:spPr>
      </p:sp>
      <p:sp>
        <p:nvSpPr>
          <p:cNvPr id="32" name="Text 30"/>
          <p:cNvSpPr/>
          <p:nvPr/>
        </p:nvSpPr>
        <p:spPr>
          <a:xfrm>
            <a:off x="6309360" y="320040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A775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doc-updater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309360" y="352044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ドキュメント更新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365760" y="40233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A085"/>
                </a:solidFill>
              </a:rPr>
              <a:t>使用例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365760" y="4343400"/>
            <a:ext cx="8412480" cy="548640"/>
          </a:xfrm>
          <a:prstGeom prst="roundRect">
            <a:avLst>
              <a:gd name="adj" fmla="val 16667"/>
            </a:avLst>
          </a:prstGeom>
          <a:solidFill>
            <a:srgbClr val="0D0D1A"/>
          </a:solidFill>
          <a:ln/>
        </p:spPr>
      </p:sp>
      <p:sp>
        <p:nvSpPr>
          <p:cNvPr id="36" name="Text 34"/>
          <p:cNvSpPr/>
          <p:nvPr/>
        </p:nvSpPr>
        <p:spPr>
          <a:xfrm>
            <a:off x="457200" y="43891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エージェントを明示的に呼び出す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8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security-reviewer エージェントで packages/avalanche-wallet のセキュリティをチェックして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lide 27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DA775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Claude Code 実践ワーク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8412480" cy="548640"/>
          </a:xfrm>
          <a:prstGeom prst="roundRect">
            <a:avLst>
              <a:gd name="adj" fmla="val 16667"/>
            </a:avLst>
          </a:prstGeom>
          <a:solidFill>
            <a:srgbClr val="2D4A3E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💡 このリポジトリに実践ワークが含まれています → docs/work.md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1645920"/>
            <a:ext cx="4114800" cy="822960"/>
          </a:xfrm>
          <a:prstGeom prst="roundRect">
            <a:avLst>
              <a:gd name="adj" fmla="val 11111"/>
            </a:avLst>
          </a:prstGeom>
          <a:solidFill>
            <a:srgbClr val="252540"/>
          </a:solidFill>
          <a:ln/>
        </p:spPr>
      </p:sp>
      <p:sp>
        <p:nvSpPr>
          <p:cNvPr id="7" name="Shape 5"/>
          <p:cNvSpPr/>
          <p:nvPr/>
        </p:nvSpPr>
        <p:spPr>
          <a:xfrm>
            <a:off x="457200" y="1828800"/>
            <a:ext cx="457200" cy="457200"/>
          </a:xfrm>
          <a:prstGeom prst="ellipse">
            <a:avLst/>
          </a:prstGeom>
          <a:solidFill>
            <a:srgbClr val="DA7756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8288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05840" y="178308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/plan コマンド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005840" y="210312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</a:rPr>
              <a:t>実装計画を作成し、承認後に実装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754880" y="1645920"/>
            <a:ext cx="4114800" cy="822960"/>
          </a:xfrm>
          <a:prstGeom prst="roundRect">
            <a:avLst>
              <a:gd name="adj" fmla="val 11111"/>
            </a:avLst>
          </a:prstGeom>
          <a:solidFill>
            <a:srgbClr val="252540"/>
          </a:solidFill>
          <a:ln/>
        </p:spPr>
      </p:sp>
      <p:sp>
        <p:nvSpPr>
          <p:cNvPr id="12" name="Shape 10"/>
          <p:cNvSpPr/>
          <p:nvPr/>
        </p:nvSpPr>
        <p:spPr>
          <a:xfrm>
            <a:off x="4846320" y="1828800"/>
            <a:ext cx="457200" cy="457200"/>
          </a:xfrm>
          <a:prstGeom prst="ellipse">
            <a:avLst/>
          </a:prstGeom>
          <a:solidFill>
            <a:srgbClr val="DA7756"/>
          </a:solidFill>
          <a:ln/>
        </p:spPr>
      </p:sp>
      <p:sp>
        <p:nvSpPr>
          <p:cNvPr id="13" name="Text 11"/>
          <p:cNvSpPr/>
          <p:nvPr/>
        </p:nvSpPr>
        <p:spPr>
          <a:xfrm>
            <a:off x="4846320" y="18288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394960" y="178308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/tdd コマンド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394960" y="210312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</a:rPr>
              <a:t>RED→GREEN→REFACTOR サイクル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65760" y="2560320"/>
            <a:ext cx="4114800" cy="822960"/>
          </a:xfrm>
          <a:prstGeom prst="roundRect">
            <a:avLst>
              <a:gd name="adj" fmla="val 11111"/>
            </a:avLst>
          </a:prstGeom>
          <a:solidFill>
            <a:srgbClr val="252540"/>
          </a:solidFill>
          <a:ln/>
        </p:spPr>
      </p:sp>
      <p:sp>
        <p:nvSpPr>
          <p:cNvPr id="17" name="Shape 15"/>
          <p:cNvSpPr/>
          <p:nvPr/>
        </p:nvSpPr>
        <p:spPr>
          <a:xfrm>
            <a:off x="457200" y="2743200"/>
            <a:ext cx="457200" cy="457200"/>
          </a:xfrm>
          <a:prstGeom prst="ellipse">
            <a:avLst/>
          </a:prstGeom>
          <a:solidFill>
            <a:srgbClr val="DA7756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" y="27432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005840" y="269748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/code-review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005840" y="301752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</a:rPr>
              <a:t>CRITICAL/HIGH/MEDIUM/LOW で評価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754880" y="2560320"/>
            <a:ext cx="4114800" cy="822960"/>
          </a:xfrm>
          <a:prstGeom prst="roundRect">
            <a:avLst>
              <a:gd name="adj" fmla="val 11111"/>
            </a:avLst>
          </a:prstGeom>
          <a:solidFill>
            <a:srgbClr val="252540"/>
          </a:solidFill>
          <a:ln/>
        </p:spPr>
      </p:sp>
      <p:sp>
        <p:nvSpPr>
          <p:cNvPr id="22" name="Shape 20"/>
          <p:cNvSpPr/>
          <p:nvPr/>
        </p:nvSpPr>
        <p:spPr>
          <a:xfrm>
            <a:off x="4846320" y="2743200"/>
            <a:ext cx="457200" cy="457200"/>
          </a:xfrm>
          <a:prstGeom prst="ellipse">
            <a:avLst/>
          </a:prstGeom>
          <a:solidFill>
            <a:srgbClr val="DA7756"/>
          </a:solidFill>
          <a:ln/>
        </p:spPr>
      </p:sp>
      <p:sp>
        <p:nvSpPr>
          <p:cNvPr id="23" name="Text 21"/>
          <p:cNvSpPr/>
          <p:nvPr/>
        </p:nvSpPr>
        <p:spPr>
          <a:xfrm>
            <a:off x="4846320" y="27432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394960" y="269748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Playwright + TDD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394960" y="301752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</a:rPr>
              <a:t>E2E テスト駆動で UI 実装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65760" y="3474720"/>
            <a:ext cx="4114800" cy="822960"/>
          </a:xfrm>
          <a:prstGeom prst="roundRect">
            <a:avLst>
              <a:gd name="adj" fmla="val 11111"/>
            </a:avLst>
          </a:prstGeom>
          <a:solidFill>
            <a:srgbClr val="252540"/>
          </a:solidFill>
          <a:ln/>
        </p:spPr>
      </p:sp>
      <p:sp>
        <p:nvSpPr>
          <p:cNvPr id="27" name="Shape 25"/>
          <p:cNvSpPr/>
          <p:nvPr/>
        </p:nvSpPr>
        <p:spPr>
          <a:xfrm>
            <a:off x="457200" y="3657600"/>
            <a:ext cx="457200" cy="457200"/>
          </a:xfrm>
          <a:prstGeom prst="ellipse">
            <a:avLst/>
          </a:prstGeom>
          <a:solidFill>
            <a:srgbClr val="DA7756"/>
          </a:solidFill>
          <a:ln/>
        </p:spPr>
      </p:sp>
      <p:sp>
        <p:nvSpPr>
          <p:cNvPr id="28" name="Text 26"/>
          <p:cNvSpPr/>
          <p:nvPr/>
        </p:nvSpPr>
        <p:spPr>
          <a:xfrm>
            <a:off x="457200" y="36576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5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1005840" y="361188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Playwright MCP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1005840" y="393192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</a:rPr>
              <a:t>ブラウザ自動操作でデバッグ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754880" y="3474720"/>
            <a:ext cx="4114800" cy="822960"/>
          </a:xfrm>
          <a:prstGeom prst="roundRect">
            <a:avLst>
              <a:gd name="adj" fmla="val 11111"/>
            </a:avLst>
          </a:prstGeom>
          <a:solidFill>
            <a:srgbClr val="252540"/>
          </a:solidFill>
          <a:ln/>
        </p:spPr>
      </p:sp>
      <p:sp>
        <p:nvSpPr>
          <p:cNvPr id="32" name="Shape 30"/>
          <p:cNvSpPr/>
          <p:nvPr/>
        </p:nvSpPr>
        <p:spPr>
          <a:xfrm>
            <a:off x="4846320" y="3657600"/>
            <a:ext cx="457200" cy="457200"/>
          </a:xfrm>
          <a:prstGeom prst="ellipse">
            <a:avLst/>
          </a:prstGeom>
          <a:solidFill>
            <a:srgbClr val="DA7756"/>
          </a:solidFill>
          <a:ln/>
        </p:spPr>
      </p:sp>
      <p:sp>
        <p:nvSpPr>
          <p:cNvPr id="33" name="Text 31"/>
          <p:cNvSpPr/>
          <p:nvPr/>
        </p:nvSpPr>
        <p:spPr>
          <a:xfrm>
            <a:off x="4846320" y="36576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6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5394960" y="361188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Context7 MCP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5394960" y="393192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</a:rPr>
              <a:t>最新ドキュメントをリアルタイム取得</a:t>
            </a:r>
            <a:endParaRPr lang="en-US" sz="1000" dirty="0"/>
          </a:p>
        </p:txBody>
      </p:sp>
      <p:sp>
        <p:nvSpPr>
          <p:cNvPr id="38" name="Claude Link 1"/>
          <p:cNvSpPr/>
          <p:nvPr/>
        </p:nvSpPr>
        <p:spPr>
          <a:xfrm>
            <a:off x="274320" y="4480560"/>
            <a:ext cx="1828800" cy="365760"/>
          </a:xfrm>
          <a:prstGeom prst="roundRect">
            <a:avLst>
              <a:gd name="adj" fmla="val 16667"/>
            </a:avLst>
          </a:prstGeom>
          <a:solidFill>
            <a:srgbClr val="9B59B6"/>
          </a:solidFill>
          <a:ln w="12700">
            <a:noFill/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ja-JP" sz="1100" b="1" dirty="0">
                <a:solidFill>
                  <a:srgbClr val="FFFFFF"/>
                </a:solidFill>
                <a:hlinkClick r:id="rId3"/>
              </a:rPr>
              <a:t>📚 Claude 概要</a:t>
            </a:r>
            <a:endParaRPr lang="en-US" sz="1100" dirty="0"/>
          </a:p>
        </p:txBody>
      </p:sp>
      <p:sp>
        <p:nvSpPr>
          <p:cNvPr id="39" name="Claude Link 2"/>
          <p:cNvSpPr/>
          <p:nvPr/>
        </p:nvSpPr>
        <p:spPr>
          <a:xfrm>
            <a:off x="2286000" y="4480560"/>
            <a:ext cx="1828800" cy="365760"/>
          </a:xfrm>
          <a:prstGeom prst="roundRect">
            <a:avLst>
              <a:gd name="adj" fmla="val 16667"/>
            </a:avLst>
          </a:prstGeom>
          <a:solidFill>
            <a:srgbClr val="E67E22"/>
          </a:solidFill>
          <a:ln w="12700">
            <a:noFill/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ja-JP" sz="1100" b="1" dirty="0">
                <a:solidFill>
                  <a:srgbClr val="FFFFFF"/>
                </a:solidFill>
                <a:hlinkClick r:id="rId4"/>
              </a:rPr>
              <a:t>🛠️ Claude 実践ワーク</a:t>
            </a:r>
            <a:endParaRPr lang="en-US" sz="11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lide 28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3498D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📚 参考リソース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82296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A085"/>
                </a:solidFill>
              </a:rPr>
              <a:t>🔌 Gemini CLI Extensions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4114800" cy="822960"/>
          </a:xfrm>
          <a:prstGeom prst="roundRect">
            <a:avLst>
              <a:gd name="adj" fmla="val 9091"/>
            </a:avLst>
          </a:prstGeom>
          <a:solidFill>
            <a:srgbClr val="252540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143000"/>
            <a:ext cx="3931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342+ のコミュニティ製 Extension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1325880"/>
            <a:ext cx="3931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CCCCC"/>
                </a:solidFill>
              </a:rPr>
              <a:t>MCP, Skills, Hooks, Context Tools など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457200" y="1508760"/>
            <a:ext cx="3931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84142"/>
                </a:solidFill>
                <a:hlinkClick r:id="rId3"/>
              </a:rPr>
              <a:t>📎 https://geminicli.com/extensions/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57200" y="1691640"/>
            <a:ext cx="3931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AAAAAA"/>
                </a:solidFill>
              </a:rPr>
              <a:t>※サードパーティ製。セキュリティ要確認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4663440" y="82296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A7756"/>
                </a:solidFill>
              </a:rPr>
              <a:t>🏆 Claude Code 設定集（ハッカソン優勝）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663440" y="1097280"/>
            <a:ext cx="4114800" cy="822960"/>
          </a:xfrm>
          <a:prstGeom prst="roundRect">
            <a:avLst>
              <a:gd name="adj" fmla="val 9091"/>
            </a:avLst>
          </a:prstGeom>
          <a:solidFill>
            <a:srgbClr val="252540"/>
          </a:solidFill>
          <a:ln/>
        </p:spPr>
      </p:sp>
      <p:sp>
        <p:nvSpPr>
          <p:cNvPr id="12" name="Text 10"/>
          <p:cNvSpPr/>
          <p:nvPr/>
        </p:nvSpPr>
        <p:spPr>
          <a:xfrm>
            <a:off x="4754880" y="1143000"/>
            <a:ext cx="3931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Anthropic x Forum Ventures 優勝者の設定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754880" y="1325880"/>
            <a:ext cx="3931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84142"/>
                </a:solidFill>
                <a:hlinkClick r:id="rId4"/>
              </a:rPr>
              <a:t>📁 https://github.com/affaan-m/everything-claude-code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754880" y="1508760"/>
            <a:ext cx="3931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498DB"/>
                </a:solidFill>
                <a:hlinkClick r:id="rId5"/>
              </a:rPr>
              <a:t>📝 https://zenn.dev/ttks/articles/a54c7520f827be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754880" y="1691640"/>
            <a:ext cx="3931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AAAAAA"/>
                </a:solidFill>
              </a:rPr>
              <a:t>↑ 日本語解説記事（Zenn）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365760" y="210312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A085"/>
                </a:solidFill>
              </a:rPr>
              <a:t>🎮 Phaser 2D GameDev + Agent Skills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65760" y="2377440"/>
            <a:ext cx="4114800" cy="731520"/>
          </a:xfrm>
          <a:prstGeom prst="roundRect">
            <a:avLst>
              <a:gd name="adj" fmla="val 9091"/>
            </a:avLst>
          </a:prstGeom>
          <a:solidFill>
            <a:srgbClr val="252540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" y="2423160"/>
            <a:ext cx="3931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84142"/>
                </a:solidFill>
                <a:hlinkClick r:id="rId6"/>
              </a:rPr>
              <a:t>📺 https://youtube.com/watch?v=QPZCMd5REP8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57200" y="2606040"/>
            <a:ext cx="3931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84142"/>
                </a:solidFill>
                <a:hlinkClick r:id="rId7"/>
              </a:rPr>
              <a:t>📁 https://github.com/chongdashu/phaserjs-oakwoods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57200" y="278892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CCCCC"/>
                </a:solidFill>
              </a:rPr>
              <a:t>Oak Woods Platformer サンプル（Phaser.js）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4663440" y="210312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A085"/>
                </a:solidFill>
              </a:rPr>
              <a:t>🖼️ PixiJS + Avalanche 実装例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663440" y="2377440"/>
            <a:ext cx="4114800" cy="731520"/>
          </a:xfrm>
          <a:prstGeom prst="roundRect">
            <a:avLst>
              <a:gd name="adj" fmla="val 9091"/>
            </a:avLst>
          </a:prstGeom>
          <a:solidFill>
            <a:srgbClr val="252540"/>
          </a:solidFill>
          <a:ln/>
        </p:spPr>
      </p:sp>
      <p:sp>
        <p:nvSpPr>
          <p:cNvPr id="23" name="Text 21"/>
          <p:cNvSpPr/>
          <p:nvPr/>
        </p:nvSpPr>
        <p:spPr>
          <a:xfrm>
            <a:off x="4754880" y="2423160"/>
            <a:ext cx="3931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84142"/>
                </a:solidFill>
              </a:rPr>
              <a:t>📁 avalanche-build-games-tool-kit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754880" y="2606040"/>
            <a:ext cx="3931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 u="sng">
                <a:solidFill>
                  <a:srgbClr val="E84142"/>
                </a:solidFill>
                <a:hlinkClick r:id="rId10"/>
              </a:rPr>
              <a:t>→ walkthrough-pixi ブランチ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4754880" y="278892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CCCCC"/>
                </a:solidFill>
              </a:rPr>
              <a:t>高速 2D WebGL レンダリングエンジン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365760" y="329184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B59B6"/>
                </a:solidFill>
              </a:rPr>
              <a:t>📦 公式スキル・プラグイン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65760" y="3566160"/>
            <a:ext cx="4114800" cy="548640"/>
          </a:xfrm>
          <a:prstGeom prst="roundRect">
            <a:avLst>
              <a:gd name="adj" fmla="val 9091"/>
            </a:avLst>
          </a:prstGeom>
          <a:solidFill>
            <a:srgbClr val="252540"/>
          </a:solidFill>
          <a:ln/>
        </p:spPr>
      </p:sp>
      <p:sp>
        <p:nvSpPr>
          <p:cNvPr id="28" name="Text 26"/>
          <p:cNvSpPr/>
          <p:nvPr/>
        </p:nvSpPr>
        <p:spPr>
          <a:xfrm>
            <a:off x="457200" y="3611880"/>
            <a:ext cx="3931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B59B6"/>
                </a:solidFill>
              </a:rPr>
              <a:t>Anthropic 公式 Claude Code Plugins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57200" y="379476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CCCCC"/>
                </a:solidFill>
                <a:hlinkClick r:id="rId8"/>
              </a:rPr>
              <a:t>https://github.com/anthropics/claude-code/tree/main/plugins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4663440" y="3566160"/>
            <a:ext cx="4114800" cy="548640"/>
          </a:xfrm>
          <a:prstGeom prst="roundRect">
            <a:avLst>
              <a:gd name="adj" fmla="val 9091"/>
            </a:avLst>
          </a:prstGeom>
          <a:solidFill>
            <a:srgbClr val="252540"/>
          </a:solidFill>
          <a:ln/>
        </p:spPr>
      </p:sp>
      <p:sp>
        <p:nvSpPr>
          <p:cNvPr id="31" name="Text 29"/>
          <p:cNvSpPr/>
          <p:nvPr/>
        </p:nvSpPr>
        <p:spPr>
          <a:xfrm>
            <a:off x="4754880" y="3611880"/>
            <a:ext cx="3931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B59B6"/>
                </a:solidFill>
              </a:rPr>
              <a:t>Cursor Directory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4754880" y="379476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CCCCC"/>
                </a:solidFill>
                <a:hlinkClick r:id="rId9"/>
              </a:rPr>
              <a:t>https://cursor.directory/ (Solidity, React 等のベストプラクティス)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365760" y="4297680"/>
            <a:ext cx="8412480" cy="548640"/>
          </a:xfrm>
          <a:prstGeom prst="roundRect">
            <a:avLst>
              <a:gd name="adj" fmla="val 9091"/>
            </a:avLst>
          </a:prstGeom>
          <a:solidFill>
            <a:srgbClr val="1E3A5F"/>
          </a:solidFill>
          <a:ln/>
        </p:spPr>
      </p:sp>
      <p:sp>
        <p:nvSpPr>
          <p:cNvPr id="34" name="Text 32"/>
          <p:cNvSpPr/>
          <p:nvPr/>
        </p:nvSpPr>
        <p:spPr>
          <a:xfrm>
            <a:off x="457200" y="4389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💡 Skill-Creator (Gemini標準) / /skill-create (Anthropic) で相互変換可能</a:t>
            </a:r>
            <a:endParaRPr lang="en-US" sz="1000" dirty="0"/>
          </a:p>
        </p:txBody>
      </p:sp>
      <p:sp>
        <p:nvSpPr>
          <p:cNvPr id="35" name="PixiJS Link"/>
          <p:cNvSpPr/>
          <p:nvPr/>
        </p:nvSpPr>
        <p:spPr>
          <a:xfrm>
            <a:off x="274320" y="4480560"/>
            <a:ext cx="1828800" cy="365760"/>
          </a:xfrm>
          <a:prstGeom prst="roundRect">
            <a:avLst>
              <a:gd name="adj" fmla="val 16667"/>
            </a:avLst>
          </a:prstGeom>
          <a:solidFill>
            <a:srgbClr val="2ECC71"/>
          </a:solidFill>
          <a:ln w="12700">
            <a:noFill/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ja-JP" sz="1000" b="1" dirty="0">
                <a:solidFill>
                  <a:srgbClr val="FFFFFF"/>
                </a:solidFill>
                <a:hlinkClick r:id="rId10"/>
              </a:rPr>
              <a:t>🎮 PixiJS 実装例</a:t>
            </a:r>
            <a:endParaRPr lang="en-US" sz="10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lide 29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974336"/>
            <a:ext cx="9144000" cy="109728"/>
          </a:xfrm>
          <a:prstGeom prst="rect">
            <a:avLst/>
          </a:prstGeom>
          <a:solidFill>
            <a:srgbClr val="E8414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28016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</a:rPr>
              <a:t>Thank You!</a:t>
            </a:r>
            <a:endParaRPr lang="en-US" sz="4800" dirty="0"/>
          </a:p>
        </p:txBody>
      </p:sp>
      <p:sp>
        <p:nvSpPr>
          <p:cNvPr id="5" name="Shape 3"/>
          <p:cNvSpPr/>
          <p:nvPr/>
        </p:nvSpPr>
        <p:spPr>
          <a:xfrm>
            <a:off x="1828800" y="2834640"/>
            <a:ext cx="5486400" cy="1463040"/>
          </a:xfrm>
          <a:prstGeom prst="roundRect">
            <a:avLst>
              <a:gd name="adj" fmla="val 9375"/>
            </a:avLst>
          </a:prstGeom>
          <a:solidFill>
            <a:srgbClr val="252540"/>
          </a:solidFill>
          <a:ln/>
        </p:spPr>
      </p:sp>
      <p:sp>
        <p:nvSpPr>
          <p:cNvPr id="9" name="Apply Text"/>
          <p:cNvSpPr/>
          <p:nvPr/>
        </p:nvSpPr>
        <p:spPr>
          <a:xfrm>
            <a:off x="1828800" y="3200400"/>
            <a:ext cx="5486400" cy="64008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ja-JP" sz="1200" dirty="0">
                <a:solidFill>
                  <a:srgbClr val="CCCCCC"/>
                </a:solidFill>
              </a:rPr>
              <a:t>もし良かったらこちらからご応募ください:</a:t>
            </a:r>
          </a:p>
          <a:p>
            <a:pPr algn="ctr" indent="0" marL="0">
              <a:buNone/>
            </a:pPr>
            <a:r>
              <a:rPr lang="en-US" sz="1100" u="sng" dirty="0">
                <a:solidFill>
                  <a:srgbClr val="E84142"/>
                </a:solidFill>
                <a:hlinkClick r:id="rId3"/>
              </a:rPr>
              <a:t>https://build.avax.network/build-games?ref=cmhs-2t37-yuki_web3_jp</a:t>
            </a:r>
            <a:endParaRPr lang="en-US" sz="11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lide 30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974336"/>
            <a:ext cx="9144000" cy="109728"/>
          </a:xfrm>
          <a:prstGeom prst="rect">
            <a:avLst/>
          </a:prstGeom>
          <a:solidFill>
            <a:srgbClr val="E8414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🎨 Bonus: Gemini + frontend-design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7315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6A085"/>
                </a:solidFill>
              </a:rPr>
              <a:t>frontend-design スキルでプロ品質の UI デザインを生成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4023360" cy="1737360"/>
          </a:xfrm>
          <a:prstGeom prst="roundRect">
            <a:avLst>
              <a:gd name="adj" fmla="val 5000"/>
            </a:avLst>
          </a:prstGeom>
          <a:solidFill>
            <a:srgbClr val="252540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18872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84142"/>
                </a:solidFill>
              </a:rPr>
              <a:t>スキル有効化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1463040"/>
            <a:ext cx="384048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6A085"/>
                </a:solidFill>
                <a:latin typeface="Courier New"/>
              </a:rPr>
              <a:t># Step 1: GitHub からダウンロード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urier New"/>
              </a:rPr>
              <a:t>github.com/CobaltSato/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urier New"/>
              </a:rPr>
              <a:t>  react-grid-game-rendering-skill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urier New"/>
              </a:rPr>
              <a:t> 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16A085"/>
                </a:solidFill>
                <a:latin typeface="Courier New"/>
              </a:rPr>
              <a:t># Step 2: スキルインストール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urier New"/>
              </a:rPr>
              <a:t>gemini skills install \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urier New"/>
              </a:rPr>
              <a:t>  ./avax-like-frontend-design.skill \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urier New"/>
              </a:rPr>
              <a:t>  --scope workspace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urier New"/>
              </a:rPr>
              <a:t>/skills list  # 確認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663440" y="1097280"/>
            <a:ext cx="4023360" cy="1737360"/>
          </a:xfrm>
          <a:prstGeom prst="roundRect">
            <a:avLst>
              <a:gd name="adj" fmla="val 5000"/>
            </a:avLst>
          </a:prstGeom>
          <a:solidFill>
            <a:srgbClr val="252540"/>
          </a:solidFill>
          <a:ln/>
        </p:spPr>
      </p:sp>
      <p:sp>
        <p:nvSpPr>
          <p:cNvPr id="9" name="Text 7"/>
          <p:cNvSpPr/>
          <p:nvPr/>
        </p:nvSpPr>
        <p:spPr>
          <a:xfrm>
            <a:off x="4754880" y="118872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84142"/>
                </a:solidFill>
              </a:rPr>
              <a:t>デザイン仕上げプロンプト例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754880" y="1463040"/>
            <a:ext cx="384048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avax-like-frontend-design スキルを使って、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グリッドゲームの UI をプロ品質に仕上げて。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 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16A085"/>
                </a:solidFill>
              </a:rPr>
              <a:t>要件: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• Avalanche ブランドカラー (#E84142)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• グリッドにホバーエフェクト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• プレイヤーにアニメーション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• ダークモード基調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57200" y="2926080"/>
            <a:ext cx="8229600" cy="1828800"/>
          </a:xfrm>
          <a:prstGeom prst="roundRect">
            <a:avLst>
              <a:gd name="adj" fmla="val 5000"/>
            </a:avLst>
          </a:prstGeom>
          <a:solidFill>
            <a:srgbClr val="252540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301752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84142"/>
                </a:solidFill>
              </a:rPr>
              <a:t>期待される改善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48640" y="3291840"/>
            <a:ext cx="384048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6A085"/>
                </a:solidFill>
              </a:rPr>
              <a:t>Before</a:t>
            </a:r>
            <a:endParaRPr lang="en-US" sz="10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• カラー: デフォルト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• グリッド: 単純な border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• プレイヤー: 静的な表示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• ボタン: 基本的なスタイル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754880" y="3291840"/>
            <a:ext cx="384048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E84142"/>
                </a:solidFill>
              </a:rPr>
              <a:t>After ✨</a:t>
            </a:r>
            <a:endParaRPr lang="en-US" sz="10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• カラー: Avalanche ブランドカラー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• グリッド: グラデーション + ホバー効果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• プレイヤー: パルスアニメーション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• ボタン: グラスモーフィズム / ネオン効果</a:t>
            </a:r>
            <a:endParaRPr lang="en-US" sz="900" dirty="0"/>
          </a:p>
        </p:txBody>
      </p:sp>
      <p:sp>
        <p:nvSpPr>
          <p:cNvPr id="15" name="Video Link"/>
          <p:cNvSpPr/>
          <p:nvPr/>
        </p:nvSpPr>
        <p:spPr>
          <a:xfrm>
            <a:off x="7620000" y="4572000"/>
            <a:ext cx="1371600" cy="365760"/>
          </a:xfrm>
          <a:prstGeom prst="roundRect">
            <a:avLst>
              <a:gd name="adj" fmla="val 16667"/>
            </a:avLst>
          </a:prstGeom>
          <a:solidFill>
            <a:srgbClr val="E84142"/>
          </a:solidFill>
          <a:ln w="12700">
            <a:noFill/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ja-JP" sz="1200" b="1" dirty="0">
                <a:solidFill>
                  <a:srgbClr val="FFFFFF"/>
                </a:solidFill>
                <a:hlinkClick r:id="rId3"/>
              </a:rPr>
              <a:t>🎬 動画を見る</a:t>
            </a:r>
            <a:endParaRPr lang="en-US" sz="12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6A085"/>
          </a:solidFill>
          <a:ln/>
        </p:spPr>
      </p:sp>
      <p:sp>
        <p:nvSpPr>
          <p:cNvPr id="3" name="Shape 1"/>
          <p:cNvSpPr/>
          <p:nvPr/>
        </p:nvSpPr>
        <p:spPr>
          <a:xfrm>
            <a:off x="365760" y="164592"/>
            <a:ext cx="1097280" cy="411480"/>
          </a:xfrm>
          <a:prstGeom prst="roundRect">
            <a:avLst>
              <a:gd name="adj" fmla="val 48889"/>
            </a:avLst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64592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6A085"/>
                </a:solidFill>
              </a:rPr>
              <a:t>Phase 0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645920" y="18288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環境の動作確認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65760" y="914400"/>
            <a:ext cx="8412480" cy="914400"/>
          </a:xfrm>
          <a:prstGeom prst="roundRect">
            <a:avLst>
              <a:gd name="adj" fmla="val 8333"/>
            </a:avLst>
          </a:prstGeom>
          <a:solidFill>
            <a:srgbClr val="2D4A3E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9601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1C40F"/>
                </a:solidFill>
              </a:rPr>
              <a:t>💡 Codespaces 起動後、環境が正しくセットアップされているか確認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1280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6A085"/>
                </a:solidFill>
                <a:latin typeface="Courier New"/>
              </a:rPr>
              <a:t>npm run dev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365760" y="2011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A085"/>
                </a:solidFill>
              </a:rPr>
              <a:t>確認ポイント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57200" y="2468880"/>
            <a:ext cx="365760" cy="365760"/>
          </a:xfrm>
          <a:prstGeom prst="ellipse">
            <a:avLst/>
          </a:prstGeom>
          <a:solidFill>
            <a:srgbClr val="16A085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24688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✓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914400" y="246888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</a:rPr>
              <a:t>ターミナルに Local: http://localhost:3000 と表示されれば OK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2971800"/>
            <a:ext cx="365760" cy="365760"/>
          </a:xfrm>
          <a:prstGeom prst="ellipse">
            <a:avLst/>
          </a:prstGeom>
          <a:solidFill>
            <a:srgbClr val="16A085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29718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✓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914400" y="297180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</a:rPr>
              <a:t>ポップアップで「Open in Browser」が表示されたらクリック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3474720"/>
            <a:ext cx="365760" cy="365760"/>
          </a:xfrm>
          <a:prstGeom prst="ellipse">
            <a:avLst/>
          </a:prstGeom>
          <a:solidFill>
            <a:srgbClr val="E84142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34747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!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914400" y="347472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</a:rPr>
              <a:t>問題があれば npm ci を実行して依存関係を再インストール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4023360"/>
            <a:ext cx="8412480" cy="731520"/>
          </a:xfrm>
          <a:prstGeom prst="roundRect">
            <a:avLst>
              <a:gd name="adj" fmla="val 10000"/>
            </a:avLst>
          </a:prstGeom>
          <a:solidFill>
            <a:srgbClr val="252540"/>
          </a:solidFill>
          <a:ln/>
        </p:spPr>
      </p:sp>
      <p:sp>
        <p:nvSpPr>
          <p:cNvPr id="20" name="Text 18"/>
          <p:cNvSpPr/>
          <p:nvPr/>
        </p:nvSpPr>
        <p:spPr>
          <a:xfrm>
            <a:off x="457200" y="41148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1C40F"/>
                </a:solidFill>
              </a:rPr>
              <a:t>⚡ 起動確認できたら Ctrl+C で停止し、次の手順へ進む</a:t>
            </a:r>
            <a:endParaRPr lang="en-US" sz="11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9B59B6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8288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💡 補足: エージェント vs スキル（Claude Code）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8412480" cy="640080"/>
          </a:xfrm>
          <a:prstGeom prst="roundRect">
            <a:avLst>
              <a:gd name="adj" fmla="val 10000"/>
            </a:avLst>
          </a:prstGeom>
          <a:solidFill>
            <a:srgbClr val="2D4A3E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0058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Claude Code では「エージェント」と「スキル」は異なる概念です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1737360"/>
            <a:ext cx="4114800" cy="1463040"/>
          </a:xfrm>
          <a:prstGeom prst="roundRect">
            <a:avLst>
              <a:gd name="adj" fmla="val 5556"/>
            </a:avLst>
          </a:prstGeom>
          <a:solidFill>
            <a:srgbClr val="16A085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182880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🎯 スキル (Skills)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2194560"/>
            <a:ext cx="39319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• /plan, /tdd などスラッシュコマンド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• メインの Claude が実行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• ユーザーが明示的に呼び出す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F1C40F"/>
                </a:solidFill>
              </a:rPr>
              <a:t>→ 「手順書」のイメージ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663440" y="1737360"/>
            <a:ext cx="4114800" cy="1463040"/>
          </a:xfrm>
          <a:prstGeom prst="roundRect">
            <a:avLst>
              <a:gd name="adj" fmla="val 5556"/>
            </a:avLst>
          </a:prstGeom>
          <a:solidFill>
            <a:srgbClr val="E84142"/>
          </a:solidFill>
          <a:ln/>
        </p:spPr>
      </p:sp>
      <p:sp>
        <p:nvSpPr>
          <p:cNvPr id="10" name="Text 8"/>
          <p:cNvSpPr/>
          <p:nvPr/>
        </p:nvSpPr>
        <p:spPr>
          <a:xfrm>
            <a:off x="4663440" y="182880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🤖 エージェント (Agents)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754880" y="2194560"/>
            <a:ext cx="39319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• Task ツールで自動起動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• 独立したサブプロセス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• Claude が状況に応じて起動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F1C40F"/>
                </a:solidFill>
              </a:rPr>
              <a:t>→ 「専門家チーム」のイメージ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65760" y="338328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A085"/>
                </a:solidFill>
              </a:rPr>
              <a:t>スキルの例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65760" y="3749040"/>
            <a:ext cx="4114800" cy="640080"/>
          </a:xfrm>
          <a:prstGeom prst="roundRect">
            <a:avLst>
              <a:gd name="adj" fmla="val 11429"/>
            </a:avLst>
          </a:prstGeom>
          <a:solidFill>
            <a:srgbClr val="252540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384048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/>
              </a:rPr>
              <a:t>/plan  /tdd  /code-review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663440" y="338328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4142"/>
                </a:solidFill>
              </a:rPr>
              <a:t>エージェントの例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663440" y="3749040"/>
            <a:ext cx="4114800" cy="640080"/>
          </a:xfrm>
          <a:prstGeom prst="roundRect">
            <a:avLst>
              <a:gd name="adj" fmla="val 11429"/>
            </a:avLst>
          </a:prstGeom>
          <a:solidFill>
            <a:srgbClr val="252540"/>
          </a:solidFill>
          <a:ln/>
        </p:spPr>
      </p:sp>
      <p:sp>
        <p:nvSpPr>
          <p:cNvPr id="17" name="Text 15"/>
          <p:cNvSpPr/>
          <p:nvPr/>
        </p:nvSpPr>
        <p:spPr>
          <a:xfrm>
            <a:off x="4754880" y="384048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</a:rPr>
              <a:t>planner  code-reviewer  build-error-resolver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65760" y="4572000"/>
            <a:ext cx="8412480" cy="365760"/>
          </a:xfrm>
          <a:prstGeom prst="roundRect">
            <a:avLst>
              <a:gd name="adj" fmla="val 20000"/>
            </a:avLst>
          </a:prstGeom>
          <a:solidFill>
            <a:srgbClr val="9B59B6"/>
          </a:solidFill>
          <a:ln/>
        </p:spPr>
      </p:sp>
      <p:sp>
        <p:nvSpPr>
          <p:cNvPr id="19" name="Text 17"/>
          <p:cNvSpPr/>
          <p:nvPr/>
        </p:nvSpPr>
        <p:spPr>
          <a:xfrm>
            <a:off x="457200" y="46177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📝 Gemini CLI では両方「スキル」として扱われます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29</Slides>
  <Notes>29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Avalanche + AI Development Hands-on Demo</dc:title>
  <dc:subject>Gemini CLI + Claude Code を使った Avalanche ゲーム開発</dc:subject>
  <dc:creator>Avalanche Game Build Tool Kit</dc:creator>
  <cp:lastModifiedBy>Avalanche Game Build Tool Kit</cp:lastModifiedBy>
  <cp:revision>1</cp:revision>
  <dcterms:created xsi:type="dcterms:W3CDTF">2026-02-03T10:53:33Z</dcterms:created>
  <dcterms:modified xsi:type="dcterms:W3CDTF">2026-02-03T10:53:33Z</dcterms:modified>
</cp:coreProperties>
</file>